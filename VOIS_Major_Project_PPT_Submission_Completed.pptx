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79" d="100"/>
          <a:sy n="79" d="100"/>
        </p:scale>
        <p:origin x="677"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5956" y="4044921"/>
            <a:ext cx="4294877" cy="1139922"/>
          </a:xfrm>
        </p:spPr>
        <p:txBody>
          <a:bodyPr vert="horz" lIns="91440" tIns="45720" rIns="91440" bIns="45720" rtlCol="0" anchor="t">
            <a:noAutofit/>
          </a:bodyPr>
          <a:lstStyle/>
          <a:p>
            <a:pPr algn="ctr">
              <a:lnSpc>
                <a:spcPct val="170000"/>
              </a:lnSpc>
              <a:defRPr sz="1800" b="1">
                <a:solidFill>
                  <a:srgbClr val="102C57"/>
                </a:solidFill>
              </a:defRPr>
            </a:pPr>
            <a:r>
              <a:rPr sz="1600" dirty="0">
                <a:latin typeface="Times New Roman" panose="02020603050405020304" pitchFamily="18" charset="0"/>
                <a:cs typeface="Times New Roman" panose="02020603050405020304" pitchFamily="18" charset="0"/>
              </a:rPr>
              <a:t>Student Name: </a:t>
            </a:r>
            <a:r>
              <a:rPr sz="1600" dirty="0">
                <a:solidFill>
                  <a:srgbClr val="FF0000"/>
                </a:solidFill>
                <a:latin typeface="Times New Roman" panose="02020603050405020304" pitchFamily="18" charset="0"/>
                <a:cs typeface="Times New Roman" panose="02020603050405020304" pitchFamily="18" charset="0"/>
              </a:rPr>
              <a:t>Sathiyamoorthi K</a:t>
            </a:r>
            <a:endParaRPr lang="en-IN" sz="1600" dirty="0">
              <a:solidFill>
                <a:srgbClr val="FF0000"/>
              </a:solidFill>
              <a:latin typeface="Times New Roman" panose="02020603050405020304" pitchFamily="18" charset="0"/>
              <a:cs typeface="Times New Roman" panose="02020603050405020304" pitchFamily="18" charset="0"/>
            </a:endParaRPr>
          </a:p>
          <a:p>
            <a:pPr algn="ctr">
              <a:lnSpc>
                <a:spcPct val="170000"/>
              </a:lnSpc>
              <a:defRPr sz="1800" b="1">
                <a:solidFill>
                  <a:srgbClr val="102C57"/>
                </a:solidFill>
              </a:defRPr>
            </a:pPr>
            <a:r>
              <a:rPr sz="1600" dirty="0">
                <a:latin typeface="Times New Roman" panose="02020603050405020304" pitchFamily="18" charset="0"/>
                <a:cs typeface="Times New Roman" panose="02020603050405020304" pitchFamily="18" charset="0"/>
              </a:rPr>
              <a:t>College Name: </a:t>
            </a:r>
            <a:r>
              <a:rPr sz="1600" dirty="0">
                <a:solidFill>
                  <a:srgbClr val="FF0000"/>
                </a:solidFill>
                <a:latin typeface="Times New Roman" panose="02020603050405020304" pitchFamily="18" charset="0"/>
                <a:cs typeface="Times New Roman" panose="02020603050405020304" pitchFamily="18" charset="0"/>
              </a:rPr>
              <a:t>IFET College of Engineering</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8913108" cy="1139922"/>
          </a:xfrm>
        </p:spPr>
        <p:txBody>
          <a:bodyPr>
            <a:noAutofit/>
          </a:bodyPr>
          <a:lstStyle/>
          <a:p>
            <a:pPr algn="ctr">
              <a:defRPr sz="2000" b="1">
                <a:solidFill>
                  <a:srgbClr val="102C57"/>
                </a:solidFill>
              </a:defRPr>
            </a:pPr>
            <a:r>
              <a:rPr sz="3200" dirty="0">
                <a:latin typeface="Times New Roman" panose="02020603050405020304" pitchFamily="18" charset="0"/>
                <a:cs typeface="Times New Roman" panose="02020603050405020304" pitchFamily="18" charset="0"/>
              </a:rPr>
              <a:t>Project Title: Seasonal Agriculture Performance Analysis &amp; Predictive Modeling</a:t>
            </a:r>
            <a:endParaRPr lang="en-IN" sz="3200" dirty="0">
              <a:latin typeface="Times New Roman" panose="02020603050405020304" pitchFamily="18" charset="0"/>
              <a:cs typeface="Times New Roman" panose="02020603050405020304" pitchFamily="18" charset="0"/>
            </a:endParaRP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5957422" y="4322494"/>
            <a:ext cx="3468679" cy="584775"/>
          </a:xfrm>
          <a:prstGeom prst="rect">
            <a:avLst/>
          </a:prstGeom>
          <a:noFill/>
        </p:spPr>
        <p:txBody>
          <a:bodyPr wrap="square" rtlCol="0">
            <a:spAutoFit/>
          </a:bodyPr>
          <a:lstStyle/>
          <a:p>
            <a:pPr>
              <a:defRPr sz="1600" b="1">
                <a:solidFill>
                  <a:srgbClr val="102C57"/>
                </a:solidFill>
              </a:defRPr>
            </a:pPr>
            <a:r>
              <a:rPr dirty="0">
                <a:latin typeface="Times New Roman" panose="02020603050405020304" pitchFamily="18" charset="0"/>
                <a:cs typeface="Times New Roman" panose="02020603050405020304" pitchFamily="18" charset="0"/>
              </a:rPr>
              <a:t>AICTE STU ID: </a:t>
            </a:r>
            <a:r>
              <a:rPr dirty="0">
                <a:solidFill>
                  <a:srgbClr val="FF0000"/>
                </a:solidFill>
                <a:latin typeface="Times New Roman" panose="02020603050405020304" pitchFamily="18" charset="0"/>
                <a:cs typeface="Times New Roman" panose="02020603050405020304" pitchFamily="18" charset="0"/>
              </a:rPr>
              <a:t>STU663c9352627131715245906</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260830" y="1978168"/>
            <a:ext cx="7734854" cy="4329415"/>
          </a:xfrm>
        </p:spPr>
        <p:txBody>
          <a:bodyPr vert="horz" lIns="91440" tIns="45720" rIns="91440" bIns="45720" rtlCol="0" anchor="t">
            <a:noAutofit/>
          </a:bodyPr>
          <a:lstStyle/>
          <a:p>
            <a:pPr marL="0" indent="0" algn="just">
              <a:lnSpc>
                <a:spcPct val="100000"/>
              </a:lnSpc>
              <a:buNone/>
            </a:pPr>
            <a:r>
              <a:rPr lang="en-US" sz="2400" dirty="0">
                <a:latin typeface="Times New Roman" panose="02020603050405020304" pitchFamily="18" charset="0"/>
                <a:cs typeface="Times New Roman" panose="02020603050405020304" pitchFamily="18" charset="0"/>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400"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solidFill>
                  <a:srgbClr val="FF0000"/>
                </a:solidFill>
                <a:latin typeface="Times New Roman" panose="02020603050405020304" pitchFamily="18" charset="0"/>
                <a:cs typeface="Times New Roman" panose="02020603050405020304" pitchFamily="18" charset="0"/>
              </a:rPr>
              <a:t>PROBLEM  STATEMENT</a:t>
            </a:r>
            <a:endParaRPr lang="en-IN" dirty="0">
              <a:solidFill>
                <a:srgbClr val="FF0000"/>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7296827" cy="830997"/>
          </a:xfrm>
        </p:spPr>
        <p:txBody>
          <a:bodyPr>
            <a:normAutofit fontScale="90000"/>
          </a:bodyPr>
          <a:lstStyle/>
          <a:p>
            <a:r>
              <a:rPr lang="en-GB" dirty="0">
                <a:solidFill>
                  <a:srgbClr val="FF0000"/>
                </a:solidFill>
                <a:latin typeface="Times New Roman" panose="02020603050405020304" pitchFamily="18" charset="0"/>
                <a:cs typeface="Times New Roman" panose="02020603050405020304" pitchFamily="18" charset="0"/>
              </a:rPr>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264591" y="2009256"/>
            <a:ext cx="9210149" cy="4401205"/>
          </a:xfrm>
          <a:prstGeom prst="rect">
            <a:avLst/>
          </a:prstGeom>
          <a:noFill/>
        </p:spPr>
        <p:txBody>
          <a:bodyPr wrap="square">
            <a:spAutoFit/>
          </a:bodyPr>
          <a:lstStyle/>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Overview: </a:t>
            </a:r>
            <a:r>
              <a:rPr sz="1600" b="0" dirty="0">
                <a:solidFill>
                  <a:srgbClr val="282828"/>
                </a:solidFill>
                <a:latin typeface="Times New Roman" panose="02020603050405020304" pitchFamily="18" charset="0"/>
                <a:cs typeface="Times New Roman" panose="02020603050405020304" pitchFamily="18" charset="0"/>
              </a:rPr>
              <a:t>Comprehensive data science and machine learning project analyzing 4,000 agricultural farm operations across 8 major Indian states, 8 crops, and 3 distinct agricultural seasons (Kharif, Rabi, and Zaid).</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Key Investigations: </a:t>
            </a:r>
            <a:r>
              <a:rPr sz="1600" b="0" dirty="0">
                <a:solidFill>
                  <a:srgbClr val="282828"/>
                </a:solidFill>
                <a:latin typeface="Times New Roman" panose="02020603050405020304" pitchFamily="18" charset="0"/>
                <a:cs typeface="Times New Roman" panose="02020603050405020304" pitchFamily="18" charset="0"/>
              </a:rPr>
              <a:t>Explore</a:t>
            </a:r>
            <a:r>
              <a:rPr lang="en-US" sz="1600" b="0" dirty="0">
                <a:solidFill>
                  <a:srgbClr val="282828"/>
                </a:solidFill>
                <a:latin typeface="Times New Roman" panose="02020603050405020304" pitchFamily="18" charset="0"/>
                <a:cs typeface="Times New Roman" panose="02020603050405020304" pitchFamily="18" charset="0"/>
              </a:rPr>
              <a:t>d</a:t>
            </a:r>
            <a:r>
              <a:rPr sz="1600" b="0" dirty="0">
                <a:solidFill>
                  <a:srgbClr val="282828"/>
                </a:solidFill>
                <a:latin typeface="Times New Roman" panose="02020603050405020304" pitchFamily="18" charset="0"/>
                <a:cs typeface="Times New Roman" panose="02020603050405020304" pitchFamily="18" charset="0"/>
              </a:rPr>
              <a:t> the intricate relationships between seasonal weather patterns (rainfall, temperature, humidity, sunlight), soil nutrient profiles (N-P-K, pH, moisture), agronomic inputs (irrigation technologies, fertilizers, pesticides), and economic outcomes (production, costs, revenue, net profit, and water efficiency).</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Methodology &amp; Rigor: </a:t>
            </a:r>
            <a:r>
              <a:rPr sz="1600" b="0" dirty="0">
                <a:solidFill>
                  <a:srgbClr val="282828"/>
                </a:solidFill>
                <a:latin typeface="Times New Roman" panose="02020603050405020304" pitchFamily="18" charset="0"/>
                <a:cs typeface="Times New Roman" panose="02020603050405020304" pitchFamily="18" charset="0"/>
              </a:rPr>
              <a:t>Implements domain-aware data imputation, multi-season exploratory data analysis (EDA), statistical hypothesis testing (One-way ANOVA), and machine learning regression and classification models.</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Predictive Modeling: </a:t>
            </a:r>
            <a:r>
              <a:rPr sz="1600" b="0" dirty="0">
                <a:solidFill>
                  <a:srgbClr val="282828"/>
                </a:solidFill>
                <a:latin typeface="Times New Roman" panose="02020603050405020304" pitchFamily="18" charset="0"/>
                <a:cs typeface="Times New Roman" panose="02020603050405020304" pitchFamily="18" charset="0"/>
              </a:rPr>
              <a:t>Trains and benchmarks multiple algorithms (Linear/Ridge Regression, Random Forest, Gradient Boosting, </a:t>
            </a:r>
            <a:r>
              <a:rPr sz="1600" b="0" dirty="0" err="1">
                <a:solidFill>
                  <a:srgbClr val="282828"/>
                </a:solidFill>
                <a:latin typeface="Times New Roman" panose="02020603050405020304" pitchFamily="18" charset="0"/>
                <a:cs typeface="Times New Roman" panose="02020603050405020304" pitchFamily="18" charset="0"/>
              </a:rPr>
              <a:t>XGBoost</a:t>
            </a:r>
            <a:r>
              <a:rPr sz="1600" b="0" dirty="0">
                <a:solidFill>
                  <a:srgbClr val="282828"/>
                </a:solidFill>
                <a:latin typeface="Times New Roman" panose="02020603050405020304" pitchFamily="18" charset="0"/>
                <a:cs typeface="Times New Roman" panose="02020603050405020304" pitchFamily="18" charset="0"/>
              </a:rPr>
              <a:t>), achieving an outstanding R² score of 0.990 for Crop Yield Prediction and 92.25% accuracy for Farm Profitability Classification.</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Strategic Value: </a:t>
            </a:r>
            <a:r>
              <a:rPr sz="1600" b="0" dirty="0">
                <a:solidFill>
                  <a:srgbClr val="282828"/>
                </a:solidFill>
                <a:latin typeface="Times New Roman" panose="02020603050405020304" pitchFamily="18" charset="0"/>
                <a:cs typeface="Times New Roman" panose="02020603050405020304" pitchFamily="18" charset="0"/>
              </a:rPr>
              <a:t>Delivers actionable, data-driven seasonal crop planning and irrigation recommendations to optimize resource efficiency and farmer livelihoods.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4400" dirty="0">
                <a:solidFill>
                  <a:srgbClr val="FF0000"/>
                </a:solidFill>
                <a:latin typeface="Times New Roman" panose="02020603050405020304" pitchFamily="18" charset="0"/>
                <a:cs typeface="Times New Roman" panose="02020603050405020304" pitchFamily="18" charset="0"/>
              </a:rPr>
              <a:t>WHO ARE THE END USERS?</a:t>
            </a:r>
            <a:endParaRPr lang="en-IN" sz="4400" dirty="0">
              <a:solidFill>
                <a:srgbClr val="FF0000"/>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731520" y="1828800"/>
            <a:ext cx="8879408" cy="3954929"/>
          </a:xfrm>
          <a:prstGeom prst="rect">
            <a:avLst/>
          </a:prstGeom>
          <a:noFill/>
        </p:spPr>
        <p:txBody>
          <a:bodyPr wrap="square">
            <a:spAutoFit/>
          </a:bodyPr>
          <a:lstStyle/>
          <a:p>
            <a:pPr marL="342900" indent="-342900">
              <a:spcAft>
                <a:spcPts val="1400"/>
              </a:spcAft>
              <a:buFont typeface="+mj-lt"/>
              <a:buAutoNum type="arabicPeriod"/>
            </a:pPr>
            <a:r>
              <a:rPr b="1" dirty="0">
                <a:solidFill>
                  <a:srgbClr val="102C57"/>
                </a:solidFill>
                <a:latin typeface="Times New Roman" panose="02020603050405020304" pitchFamily="18" charset="0"/>
                <a:cs typeface="Times New Roman" panose="02020603050405020304" pitchFamily="18" charset="0"/>
              </a:rPr>
              <a:t>Farmers &amp; Agricultural Cooperatives: </a:t>
            </a:r>
            <a:r>
              <a:rPr b="0" dirty="0">
                <a:solidFill>
                  <a:srgbClr val="282828"/>
                </a:solidFill>
                <a:latin typeface="Times New Roman" panose="02020603050405020304" pitchFamily="18" charset="0"/>
                <a:cs typeface="Times New Roman" panose="02020603050405020304" pitchFamily="18" charset="0"/>
              </a:rPr>
              <a:t>Provides actionable seasonal advisories for optimal crop selection, timing, and irrigation management (Drip vs. Flood) to maximize yield and net profit while minimizing production costs.</a:t>
            </a:r>
          </a:p>
          <a:p>
            <a:pPr marL="342900" indent="-342900">
              <a:spcAft>
                <a:spcPts val="1400"/>
              </a:spcAft>
              <a:buFont typeface="+mj-lt"/>
              <a:buAutoNum type="arabicPeriod"/>
            </a:pPr>
            <a:r>
              <a:rPr b="1" dirty="0">
                <a:solidFill>
                  <a:srgbClr val="102C57"/>
                </a:solidFill>
                <a:latin typeface="Times New Roman" panose="02020603050405020304" pitchFamily="18" charset="0"/>
                <a:cs typeface="Times New Roman" panose="02020603050405020304" pitchFamily="18" charset="0"/>
              </a:rPr>
              <a:t>Agronomists &amp; Extension Officers: </a:t>
            </a:r>
            <a:r>
              <a:rPr b="0" dirty="0">
                <a:solidFill>
                  <a:srgbClr val="282828"/>
                </a:solidFill>
                <a:latin typeface="Times New Roman" panose="02020603050405020304" pitchFamily="18" charset="0"/>
                <a:cs typeface="Times New Roman" panose="02020603050405020304" pitchFamily="18" charset="0"/>
              </a:rPr>
              <a:t>Empowers field officers with diagnostic tools to evaluate pest/disease vulnerabilities, soil nutrient requirements (N-P-K balance), and water efficiency metrics across varying seasons.</a:t>
            </a:r>
          </a:p>
          <a:p>
            <a:pPr marL="342900" indent="-342900">
              <a:spcAft>
                <a:spcPts val="1400"/>
              </a:spcAft>
              <a:buFont typeface="+mj-lt"/>
              <a:buAutoNum type="arabicPeriod"/>
            </a:pPr>
            <a:r>
              <a:rPr b="1" dirty="0">
                <a:solidFill>
                  <a:srgbClr val="102C57"/>
                </a:solidFill>
                <a:latin typeface="Times New Roman" panose="02020603050405020304" pitchFamily="18" charset="0"/>
                <a:cs typeface="Times New Roman" panose="02020603050405020304" pitchFamily="18" charset="0"/>
              </a:rPr>
              <a:t>Government Agricultural Departments &amp; Policymakers: </a:t>
            </a:r>
            <a:r>
              <a:rPr b="0" dirty="0">
                <a:solidFill>
                  <a:srgbClr val="282828"/>
                </a:solidFill>
                <a:latin typeface="Times New Roman" panose="02020603050405020304" pitchFamily="18" charset="0"/>
                <a:cs typeface="Times New Roman" panose="02020603050405020304" pitchFamily="18" charset="0"/>
              </a:rPr>
              <a:t>Enables evidence-based regional production forecasting, drought/flood contingency planning, and targeted water-subsidy resource allocation.</a:t>
            </a:r>
          </a:p>
          <a:p>
            <a:pPr marL="342900" indent="-342900">
              <a:spcAft>
                <a:spcPts val="1400"/>
              </a:spcAft>
              <a:buFont typeface="+mj-lt"/>
              <a:buAutoNum type="arabicPeriod"/>
            </a:pPr>
            <a:r>
              <a:rPr b="1" dirty="0" err="1">
                <a:solidFill>
                  <a:srgbClr val="102C57"/>
                </a:solidFill>
                <a:latin typeface="Times New Roman" panose="02020603050405020304" pitchFamily="18" charset="0"/>
                <a:cs typeface="Times New Roman" panose="02020603050405020304" pitchFamily="18" charset="0"/>
              </a:rPr>
              <a:t>AgTech</a:t>
            </a:r>
            <a:r>
              <a:rPr b="1" dirty="0">
                <a:solidFill>
                  <a:srgbClr val="102C57"/>
                </a:solidFill>
                <a:latin typeface="Times New Roman" panose="02020603050405020304" pitchFamily="18" charset="0"/>
                <a:cs typeface="Times New Roman" panose="02020603050405020304" pitchFamily="18" charset="0"/>
              </a:rPr>
              <a:t> Companies &amp; Supply Chain Managers: </a:t>
            </a:r>
            <a:r>
              <a:rPr b="0" dirty="0">
                <a:solidFill>
                  <a:srgbClr val="282828"/>
                </a:solidFill>
                <a:latin typeface="Times New Roman" panose="02020603050405020304" pitchFamily="18" charset="0"/>
                <a:cs typeface="Times New Roman" panose="02020603050405020304" pitchFamily="18" charset="0"/>
              </a:rPr>
              <a:t>Delivers high-precision pre-harvest yield estimations to stabilize storage, logistics, food processing, and fair market procurement pricing.</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6139235" cy="847817"/>
          </a:xfrm>
        </p:spPr>
        <p:txBody>
          <a:bodyPr>
            <a:normAutofit/>
          </a:bodyPr>
          <a:lstStyle/>
          <a:p>
            <a:r>
              <a:rPr lang="en-US" sz="4400" dirty="0">
                <a:solidFill>
                  <a:srgbClr val="FF0000"/>
                </a:solidFill>
                <a:latin typeface="Times New Roman" panose="02020603050405020304" pitchFamily="18" charset="0"/>
                <a:cs typeface="Times New Roman" panose="02020603050405020304" pitchFamily="18" charset="0"/>
              </a:rPr>
              <a:t>TECHNOLOGY USED</a:t>
            </a:r>
          </a:p>
        </p:txBody>
      </p:sp>
      <p:sp>
        <p:nvSpPr>
          <p:cNvPr id="17" name="TextBox 16"/>
          <p:cNvSpPr txBox="1"/>
          <p:nvPr/>
        </p:nvSpPr>
        <p:spPr>
          <a:xfrm>
            <a:off x="1546698" y="1520785"/>
            <a:ext cx="8015591" cy="3570208"/>
          </a:xfrm>
          <a:prstGeom prst="rect">
            <a:avLst/>
          </a:prstGeom>
          <a:noFill/>
        </p:spPr>
        <p:txBody>
          <a:bodyPr wrap="square">
            <a:spAutoFit/>
          </a:bodyPr>
          <a:lstStyle/>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 Programming Language: </a:t>
            </a:r>
            <a:r>
              <a:rPr sz="1600" b="0" dirty="0">
                <a:solidFill>
                  <a:srgbClr val="282828"/>
                </a:solidFill>
                <a:latin typeface="Times New Roman" panose="02020603050405020304" pitchFamily="18" charset="0"/>
                <a:cs typeface="Times New Roman" panose="02020603050405020304" pitchFamily="18" charset="0"/>
              </a:rPr>
              <a:t>Python 3.11+ (High performance data science &amp; ML runtime)</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 Data Manipulation &amp; Wrangling: </a:t>
            </a:r>
            <a:r>
              <a:rPr sz="1600" b="0" dirty="0">
                <a:solidFill>
                  <a:srgbClr val="282828"/>
                </a:solidFill>
                <a:latin typeface="Times New Roman" panose="02020603050405020304" pitchFamily="18" charset="0"/>
                <a:cs typeface="Times New Roman" panose="02020603050405020304" pitchFamily="18" charset="0"/>
              </a:rPr>
              <a:t>Pandas (</a:t>
            </a:r>
            <a:r>
              <a:rPr sz="1600" b="0" dirty="0" err="1">
                <a:solidFill>
                  <a:srgbClr val="282828"/>
                </a:solidFill>
                <a:latin typeface="Times New Roman" panose="02020603050405020304" pitchFamily="18" charset="0"/>
                <a:cs typeface="Times New Roman" panose="02020603050405020304" pitchFamily="18" charset="0"/>
              </a:rPr>
              <a:t>DataFrame</a:t>
            </a:r>
            <a:r>
              <a:rPr sz="1600" b="0" dirty="0">
                <a:solidFill>
                  <a:srgbClr val="282828"/>
                </a:solidFill>
                <a:latin typeface="Times New Roman" panose="02020603050405020304" pitchFamily="18" charset="0"/>
                <a:cs typeface="Times New Roman" panose="02020603050405020304" pitchFamily="18" charset="0"/>
              </a:rPr>
              <a:t> transformations, grouped aggregations), NumPy (Vectorized numerical computations)</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 Statistical Inference: </a:t>
            </a:r>
            <a:r>
              <a:rPr sz="1600" b="0" dirty="0">
                <a:solidFill>
                  <a:srgbClr val="282828"/>
                </a:solidFill>
                <a:latin typeface="Times New Roman" panose="02020603050405020304" pitchFamily="18" charset="0"/>
                <a:cs typeface="Times New Roman" panose="02020603050405020304" pitchFamily="18" charset="0"/>
              </a:rPr>
              <a:t>SciPy Stats (One-Way ANOVA hypothesis testing, p-value calculation, variance analysis)</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 Machine Learning Frameworks: </a:t>
            </a:r>
            <a:r>
              <a:rPr sz="1600" b="0" dirty="0">
                <a:solidFill>
                  <a:srgbClr val="282828"/>
                </a:solidFill>
                <a:latin typeface="Times New Roman" panose="02020603050405020304" pitchFamily="18" charset="0"/>
                <a:cs typeface="Times New Roman" panose="02020603050405020304" pitchFamily="18" charset="0"/>
              </a:rPr>
              <a:t>Scikit-Learn (Pipelines, </a:t>
            </a:r>
            <a:r>
              <a:rPr sz="1600" b="0" dirty="0" err="1">
                <a:solidFill>
                  <a:srgbClr val="282828"/>
                </a:solidFill>
                <a:latin typeface="Times New Roman" panose="02020603050405020304" pitchFamily="18" charset="0"/>
                <a:cs typeface="Times New Roman" panose="02020603050405020304" pitchFamily="18" charset="0"/>
              </a:rPr>
              <a:t>ColumnTransformer</a:t>
            </a:r>
            <a:r>
              <a:rPr sz="1600" b="0" dirty="0">
                <a:solidFill>
                  <a:srgbClr val="282828"/>
                </a:solidFill>
                <a:latin typeface="Times New Roman" panose="02020603050405020304" pitchFamily="18" charset="0"/>
                <a:cs typeface="Times New Roman" panose="02020603050405020304" pitchFamily="18" charset="0"/>
              </a:rPr>
              <a:t>, </a:t>
            </a:r>
            <a:r>
              <a:rPr sz="1600" b="0" dirty="0" err="1">
                <a:solidFill>
                  <a:srgbClr val="282828"/>
                </a:solidFill>
                <a:latin typeface="Times New Roman" panose="02020603050405020304" pitchFamily="18" charset="0"/>
                <a:cs typeface="Times New Roman" panose="02020603050405020304" pitchFamily="18" charset="0"/>
              </a:rPr>
              <a:t>StandardScaler</a:t>
            </a:r>
            <a:r>
              <a:rPr sz="1600" b="0" dirty="0">
                <a:solidFill>
                  <a:srgbClr val="282828"/>
                </a:solidFill>
                <a:latin typeface="Times New Roman" panose="02020603050405020304" pitchFamily="18" charset="0"/>
                <a:cs typeface="Times New Roman" panose="02020603050405020304" pitchFamily="18" charset="0"/>
              </a:rPr>
              <a:t>, </a:t>
            </a:r>
            <a:r>
              <a:rPr sz="1600" b="0" dirty="0" err="1">
                <a:solidFill>
                  <a:srgbClr val="282828"/>
                </a:solidFill>
                <a:latin typeface="Times New Roman" panose="02020603050405020304" pitchFamily="18" charset="0"/>
                <a:cs typeface="Times New Roman" panose="02020603050405020304" pitchFamily="18" charset="0"/>
              </a:rPr>
              <a:t>OneHotEncoder</a:t>
            </a:r>
            <a:r>
              <a:rPr sz="1600" b="0" dirty="0">
                <a:solidFill>
                  <a:srgbClr val="282828"/>
                </a:solidFill>
                <a:latin typeface="Times New Roman" panose="02020603050405020304" pitchFamily="18" charset="0"/>
                <a:cs typeface="Times New Roman" panose="02020603050405020304" pitchFamily="18" charset="0"/>
              </a:rPr>
              <a:t>, Ridge Regression, Random Forest, Gradient Boosting), </a:t>
            </a:r>
            <a:r>
              <a:rPr sz="1600" b="0" dirty="0" err="1">
                <a:solidFill>
                  <a:srgbClr val="282828"/>
                </a:solidFill>
                <a:latin typeface="Times New Roman" panose="02020603050405020304" pitchFamily="18" charset="0"/>
                <a:cs typeface="Times New Roman" panose="02020603050405020304" pitchFamily="18" charset="0"/>
              </a:rPr>
              <a:t>XGBoost</a:t>
            </a:r>
            <a:r>
              <a:rPr sz="1600" b="0" dirty="0">
                <a:solidFill>
                  <a:srgbClr val="282828"/>
                </a:solidFill>
                <a:latin typeface="Times New Roman" panose="02020603050405020304" pitchFamily="18" charset="0"/>
                <a:cs typeface="Times New Roman" panose="02020603050405020304" pitchFamily="18" charset="0"/>
              </a:rPr>
              <a:t> (Extreme Gradient Boosting Regressor &amp; Classifier)</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 Data Visualization &amp; Analytics: </a:t>
            </a:r>
            <a:r>
              <a:rPr sz="1600" b="0" dirty="0">
                <a:solidFill>
                  <a:srgbClr val="282828"/>
                </a:solidFill>
                <a:latin typeface="Times New Roman" panose="02020603050405020304" pitchFamily="18" charset="0"/>
                <a:cs typeface="Times New Roman" panose="02020603050405020304" pitchFamily="18" charset="0"/>
              </a:rPr>
              <a:t>Matplotlib &amp; Seaborn (High-resolution multi-panel plots, heatmaps, boxplots, residual scatter plots)</a:t>
            </a:r>
          </a:p>
          <a:p>
            <a:pPr marL="285750" indent="-285750">
              <a:spcAft>
                <a:spcPts val="1200"/>
              </a:spcAft>
              <a:buFont typeface="Wingdings" panose="05000000000000000000" pitchFamily="2" charset="2"/>
              <a:buChar char="Ø"/>
            </a:pPr>
            <a:r>
              <a:rPr sz="1600" b="1" dirty="0">
                <a:solidFill>
                  <a:srgbClr val="102C57"/>
                </a:solidFill>
                <a:latin typeface="Times New Roman" panose="02020603050405020304" pitchFamily="18" charset="0"/>
                <a:cs typeface="Times New Roman" panose="02020603050405020304" pitchFamily="18" charset="0"/>
              </a:rPr>
              <a:t>• Model Serialization: </a:t>
            </a:r>
            <a:r>
              <a:rPr sz="1600" b="0" dirty="0" err="1">
                <a:solidFill>
                  <a:srgbClr val="282828"/>
                </a:solidFill>
                <a:latin typeface="Times New Roman" panose="02020603050405020304" pitchFamily="18" charset="0"/>
                <a:cs typeface="Times New Roman" panose="02020603050405020304" pitchFamily="18" charset="0"/>
              </a:rPr>
              <a:t>Joblib</a:t>
            </a:r>
            <a:r>
              <a:rPr sz="1600" b="0" dirty="0">
                <a:solidFill>
                  <a:srgbClr val="282828"/>
                </a:solidFill>
                <a:latin typeface="Times New Roman" panose="02020603050405020304" pitchFamily="18" charset="0"/>
                <a:cs typeface="Times New Roman" panose="02020603050405020304" pitchFamily="18" charset="0"/>
              </a:rPr>
              <a:t> (Model persistence .</a:t>
            </a:r>
            <a:r>
              <a:rPr sz="1600" b="0" dirty="0" err="1">
                <a:solidFill>
                  <a:srgbClr val="282828"/>
                </a:solidFill>
                <a:latin typeface="Times New Roman" panose="02020603050405020304" pitchFamily="18" charset="0"/>
                <a:cs typeface="Times New Roman" panose="02020603050405020304" pitchFamily="18" charset="0"/>
              </a:rPr>
              <a:t>joblib</a:t>
            </a:r>
            <a:r>
              <a:rPr sz="1600" b="0" dirty="0">
                <a:solidFill>
                  <a:srgbClr val="282828"/>
                </a:solidFill>
                <a:latin typeface="Times New Roman" panose="02020603050405020304" pitchFamily="18" charset="0"/>
                <a:cs typeface="Times New Roman" panose="02020603050405020304" pitchFamily="18" charset="0"/>
              </a:rPr>
              <a:t>), Jupyter Notebook (.</a:t>
            </a:r>
            <a:r>
              <a:rPr sz="1600" b="0" dirty="0" err="1">
                <a:solidFill>
                  <a:srgbClr val="282828"/>
                </a:solidFill>
                <a:latin typeface="Times New Roman" panose="02020603050405020304" pitchFamily="18" charset="0"/>
                <a:cs typeface="Times New Roman" panose="02020603050405020304" pitchFamily="18" charset="0"/>
              </a:rPr>
              <a:t>ipynb</a:t>
            </a:r>
            <a:r>
              <a:rPr sz="1600" b="0" dirty="0">
                <a:solidFill>
                  <a:srgbClr val="282828"/>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8322128" cy="1205292"/>
          </a:xfrm>
        </p:spPr>
        <p:txBody>
          <a:bodyPr>
            <a:noAutofit/>
          </a:bodyPr>
          <a:lstStyle/>
          <a:p>
            <a:pPr>
              <a:defRPr sz="2000" b="1">
                <a:solidFill>
                  <a:srgbClr val="102C57"/>
                </a:solidFill>
              </a:defRPr>
            </a:pPr>
            <a:r>
              <a:rPr lang="en-US" sz="3600" dirty="0">
                <a:solidFill>
                  <a:srgbClr val="FF0000"/>
                </a:solidFill>
                <a:latin typeface="Times New Roman" panose="02020603050405020304" pitchFamily="18" charset="0"/>
                <a:cs typeface="Times New Roman" panose="02020603050405020304" pitchFamily="18" charset="0"/>
              </a:rPr>
              <a:t>RESULTS: SEASONAL YIELD &amp; PROFITABILITY DYNAMICS</a:t>
            </a: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4" name="Picture 23" descr="seasonal_yield_profit_comparison.png"/>
          <p:cNvPicPr>
            <a:picLocks noChangeAspect="1"/>
          </p:cNvPicPr>
          <p:nvPr/>
        </p:nvPicPr>
        <p:blipFill>
          <a:blip r:embed="rId3"/>
          <a:stretch>
            <a:fillRect/>
          </a:stretch>
        </p:blipFill>
        <p:spPr>
          <a:xfrm>
            <a:off x="516333" y="1645919"/>
            <a:ext cx="5701587" cy="4086137"/>
          </a:xfrm>
          <a:prstGeom prst="rect">
            <a:avLst/>
          </a:prstGeom>
        </p:spPr>
      </p:pic>
      <p:sp>
        <p:nvSpPr>
          <p:cNvPr id="25" name="TextBox 24"/>
          <p:cNvSpPr txBox="1"/>
          <p:nvPr/>
        </p:nvSpPr>
        <p:spPr>
          <a:xfrm>
            <a:off x="6492239" y="2120915"/>
            <a:ext cx="3196509" cy="4042132"/>
          </a:xfrm>
          <a:prstGeom prst="rect">
            <a:avLst/>
          </a:prstGeom>
          <a:noFill/>
        </p:spPr>
        <p:txBody>
          <a:bodyPr wrap="square">
            <a:spAutoFit/>
          </a:bodyPr>
          <a:lstStyle/>
          <a:p>
            <a:pPr>
              <a:spcAft>
                <a:spcPts val="1000"/>
              </a:spcAft>
            </a:pPr>
            <a:r>
              <a:rPr sz="1600" b="1" dirty="0">
                <a:solidFill>
                  <a:srgbClr val="102C57"/>
                </a:solidFill>
                <a:latin typeface="Times New Roman" panose="02020603050405020304" pitchFamily="18" charset="0"/>
                <a:cs typeface="Times New Roman" panose="02020603050405020304" pitchFamily="18" charset="0"/>
              </a:rPr>
              <a:t>• Kharif Season: </a:t>
            </a:r>
            <a:r>
              <a:rPr sz="1600" b="0" dirty="0">
                <a:solidFill>
                  <a:srgbClr val="282828"/>
                </a:solidFill>
                <a:latin typeface="Times New Roman" panose="02020603050405020304" pitchFamily="18" charset="0"/>
                <a:cs typeface="Times New Roman" panose="02020603050405020304" pitchFamily="18" charset="0"/>
              </a:rPr>
              <a:t>Exhibits highest overall rainfall and moisture, supporting heavy crops but experiencing elevated disease/pest risks.</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Rabi Season: </a:t>
            </a:r>
            <a:r>
              <a:rPr sz="1600" b="0" dirty="0">
                <a:solidFill>
                  <a:srgbClr val="282828"/>
                </a:solidFill>
                <a:latin typeface="Times New Roman" panose="02020603050405020304" pitchFamily="18" charset="0"/>
                <a:cs typeface="Times New Roman" panose="02020603050405020304" pitchFamily="18" charset="0"/>
              </a:rPr>
              <a:t>Delivers optimal yield consistency and strong net profits, benefiting from controlled irrigation and favorable winter temperatures.</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Zaid Season: </a:t>
            </a:r>
            <a:r>
              <a:rPr sz="1600" b="0" dirty="0">
                <a:solidFill>
                  <a:srgbClr val="282828"/>
                </a:solidFill>
                <a:latin typeface="Times New Roman" panose="02020603050405020304" pitchFamily="18" charset="0"/>
                <a:cs typeface="Times New Roman" panose="02020603050405020304" pitchFamily="18" charset="0"/>
              </a:rPr>
              <a:t>Characterized by high ambient temperatures and dry conditions; profitability depends critically on high-efficiency irrigation methods.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7013298" cy="830997"/>
          </a:xfrm>
        </p:spPr>
        <p:txBody>
          <a:bodyPr>
            <a:normAutofit fontScale="90000"/>
          </a:bodyPr>
          <a:lstStyle/>
          <a:p>
            <a:pPr>
              <a:defRPr sz="2000" b="1">
                <a:solidFill>
                  <a:srgbClr val="102C57"/>
                </a:solidFill>
              </a:defRPr>
            </a:pPr>
            <a:r>
              <a:rPr sz="3600" dirty="0">
                <a:solidFill>
                  <a:srgbClr val="FF0000"/>
                </a:solidFill>
                <a:latin typeface="Times New Roman" panose="02020603050405020304" pitchFamily="18" charset="0"/>
                <a:cs typeface="Times New Roman" panose="02020603050405020304" pitchFamily="18" charset="0"/>
              </a:rPr>
              <a:t>RESULTS: </a:t>
            </a:r>
            <a:br>
              <a:rPr lang="en-US" sz="3600" dirty="0">
                <a:solidFill>
                  <a:srgbClr val="FF0000"/>
                </a:solidFill>
                <a:latin typeface="Times New Roman" panose="02020603050405020304" pitchFamily="18" charset="0"/>
                <a:cs typeface="Times New Roman" panose="02020603050405020304" pitchFamily="18" charset="0"/>
              </a:rPr>
            </a:br>
            <a:r>
              <a:rPr dirty="0"/>
              <a:t>Crop Yield Prediction Model (R² = 0.990)</a:t>
            </a:r>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model_actual_vs_predicted.png"/>
          <p:cNvPicPr>
            <a:picLocks noChangeAspect="1"/>
          </p:cNvPicPr>
          <p:nvPr/>
        </p:nvPicPr>
        <p:blipFill>
          <a:blip r:embed="rId3"/>
          <a:stretch>
            <a:fillRect/>
          </a:stretch>
        </p:blipFill>
        <p:spPr>
          <a:xfrm>
            <a:off x="324689" y="1645920"/>
            <a:ext cx="5486400" cy="3931920"/>
          </a:xfrm>
          <a:prstGeom prst="rect">
            <a:avLst/>
          </a:prstGeom>
        </p:spPr>
      </p:pic>
      <p:sp>
        <p:nvSpPr>
          <p:cNvPr id="32" name="TextBox 31"/>
          <p:cNvSpPr txBox="1"/>
          <p:nvPr/>
        </p:nvSpPr>
        <p:spPr>
          <a:xfrm>
            <a:off x="5811089" y="2029094"/>
            <a:ext cx="3929782" cy="3303468"/>
          </a:xfrm>
          <a:prstGeom prst="rect">
            <a:avLst/>
          </a:prstGeom>
          <a:noFill/>
        </p:spPr>
        <p:txBody>
          <a:bodyPr wrap="square">
            <a:spAutoFit/>
          </a:bodyPr>
          <a:lstStyle/>
          <a:p>
            <a:pPr>
              <a:spcAft>
                <a:spcPts val="1000"/>
              </a:spcAft>
            </a:pPr>
            <a:r>
              <a:rPr sz="1600" b="1" dirty="0">
                <a:solidFill>
                  <a:srgbClr val="102C57"/>
                </a:solidFill>
                <a:latin typeface="Times New Roman" panose="02020603050405020304" pitchFamily="18" charset="0"/>
                <a:cs typeface="Times New Roman" panose="02020603050405020304" pitchFamily="18" charset="0"/>
              </a:rPr>
              <a:t>• Algorithm Benchmarking: </a:t>
            </a:r>
            <a:r>
              <a:rPr sz="1600" b="0" dirty="0">
                <a:solidFill>
                  <a:srgbClr val="282828"/>
                </a:solidFill>
                <a:latin typeface="Times New Roman" panose="02020603050405020304" pitchFamily="18" charset="0"/>
                <a:cs typeface="Times New Roman" panose="02020603050405020304" pitchFamily="18" charset="0"/>
              </a:rPr>
              <a:t>Compared Linear Regression, Ridge, Random Forest, Gradient Boosting, and </a:t>
            </a:r>
            <a:r>
              <a:rPr sz="1600" b="0" dirty="0" err="1">
                <a:solidFill>
                  <a:srgbClr val="282828"/>
                </a:solidFill>
                <a:latin typeface="Times New Roman" panose="02020603050405020304" pitchFamily="18" charset="0"/>
                <a:cs typeface="Times New Roman" panose="02020603050405020304" pitchFamily="18" charset="0"/>
              </a:rPr>
              <a:t>XGBoost</a:t>
            </a:r>
            <a:r>
              <a:rPr sz="1600" b="0" dirty="0">
                <a:solidFill>
                  <a:srgbClr val="282828"/>
                </a:solidFill>
                <a:latin typeface="Times New Roman" panose="02020603050405020304" pitchFamily="18" charset="0"/>
                <a:cs typeface="Times New Roman" panose="02020603050405020304" pitchFamily="18" charset="0"/>
              </a:rPr>
              <a:t> using 5-Fold Cross-Validation.</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Top Performer: </a:t>
            </a:r>
            <a:r>
              <a:rPr sz="1600" b="0" dirty="0">
                <a:solidFill>
                  <a:srgbClr val="282828"/>
                </a:solidFill>
                <a:latin typeface="Times New Roman" panose="02020603050405020304" pitchFamily="18" charset="0"/>
                <a:cs typeface="Times New Roman" panose="02020603050405020304" pitchFamily="18" charset="0"/>
              </a:rPr>
              <a:t>Gradient Boosting achieved an extraordinary R² of 0.9900, MAE of 0.4636 </a:t>
            </a:r>
            <a:r>
              <a:rPr sz="1600" b="0" dirty="0" err="1">
                <a:solidFill>
                  <a:srgbClr val="282828"/>
                </a:solidFill>
                <a:latin typeface="Times New Roman" panose="02020603050405020304" pitchFamily="18" charset="0"/>
                <a:cs typeface="Times New Roman" panose="02020603050405020304" pitchFamily="18" charset="0"/>
              </a:rPr>
              <a:t>Tonnes</a:t>
            </a:r>
            <a:r>
              <a:rPr sz="1600" b="0" dirty="0">
                <a:solidFill>
                  <a:srgbClr val="282828"/>
                </a:solidFill>
                <a:latin typeface="Times New Roman" panose="02020603050405020304" pitchFamily="18" charset="0"/>
                <a:cs typeface="Times New Roman" panose="02020603050405020304" pitchFamily="18" charset="0"/>
              </a:rPr>
              <a:t>/Ha, and RMSE of 1.3899 </a:t>
            </a:r>
            <a:r>
              <a:rPr sz="1600" b="0" dirty="0" err="1">
                <a:solidFill>
                  <a:srgbClr val="282828"/>
                </a:solidFill>
                <a:latin typeface="Times New Roman" panose="02020603050405020304" pitchFamily="18" charset="0"/>
                <a:cs typeface="Times New Roman" panose="02020603050405020304" pitchFamily="18" charset="0"/>
              </a:rPr>
              <a:t>Tonnes</a:t>
            </a:r>
            <a:r>
              <a:rPr sz="1600" b="0" dirty="0">
                <a:solidFill>
                  <a:srgbClr val="282828"/>
                </a:solidFill>
                <a:latin typeface="Times New Roman" panose="02020603050405020304" pitchFamily="18" charset="0"/>
                <a:cs typeface="Times New Roman" panose="02020603050405020304" pitchFamily="18" charset="0"/>
              </a:rPr>
              <a:t>/Ha.</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Validation Quality: </a:t>
            </a:r>
            <a:r>
              <a:rPr sz="1600" b="0" dirty="0">
                <a:solidFill>
                  <a:srgbClr val="282828"/>
                </a:solidFill>
                <a:latin typeface="Times New Roman" panose="02020603050405020304" pitchFamily="18" charset="0"/>
                <a:cs typeface="Times New Roman" panose="02020603050405020304" pitchFamily="18" charset="0"/>
              </a:rPr>
              <a:t>Actual vs. Predicted scatter plot demonstrates tight alignment along the 1:1 diagonal across all yield distributions.</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7670375" cy="830997"/>
          </a:xfrm>
        </p:spPr>
        <p:txBody>
          <a:bodyPr>
            <a:normAutofit fontScale="90000"/>
          </a:bodyPr>
          <a:lstStyle/>
          <a:p>
            <a:pPr>
              <a:defRPr sz="2000" b="1">
                <a:solidFill>
                  <a:srgbClr val="102C57"/>
                </a:solidFill>
              </a:defRPr>
            </a:pPr>
            <a:r>
              <a:rPr sz="4000" dirty="0">
                <a:solidFill>
                  <a:srgbClr val="FF0000"/>
                </a:solidFill>
                <a:latin typeface="Times New Roman" panose="02020603050405020304" pitchFamily="18" charset="0"/>
                <a:cs typeface="Times New Roman" panose="02020603050405020304" pitchFamily="18" charset="0"/>
              </a:rPr>
              <a:t>RESULTS: </a:t>
            </a:r>
            <a:br>
              <a:rPr lang="en-US" sz="4000" dirty="0"/>
            </a:br>
            <a:r>
              <a:rPr dirty="0"/>
              <a:t>Feature Drivers &amp; Farm Profitability Model</a:t>
            </a:r>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feature_importance_yield.png"/>
          <p:cNvPicPr>
            <a:picLocks noChangeAspect="1"/>
          </p:cNvPicPr>
          <p:nvPr/>
        </p:nvPicPr>
        <p:blipFill>
          <a:blip r:embed="rId3"/>
          <a:stretch>
            <a:fillRect/>
          </a:stretch>
        </p:blipFill>
        <p:spPr>
          <a:xfrm>
            <a:off x="324689" y="1645920"/>
            <a:ext cx="5486400" cy="3931920"/>
          </a:xfrm>
          <a:prstGeom prst="rect">
            <a:avLst/>
          </a:prstGeom>
        </p:spPr>
      </p:pic>
      <p:sp>
        <p:nvSpPr>
          <p:cNvPr id="32" name="TextBox 31"/>
          <p:cNvSpPr txBox="1"/>
          <p:nvPr/>
        </p:nvSpPr>
        <p:spPr>
          <a:xfrm>
            <a:off x="5811089" y="2105526"/>
            <a:ext cx="4377447" cy="2811026"/>
          </a:xfrm>
          <a:prstGeom prst="rect">
            <a:avLst/>
          </a:prstGeom>
          <a:noFill/>
        </p:spPr>
        <p:txBody>
          <a:bodyPr wrap="square">
            <a:spAutoFit/>
          </a:bodyPr>
          <a:lstStyle/>
          <a:p>
            <a:pPr>
              <a:spcAft>
                <a:spcPts val="1000"/>
              </a:spcAft>
            </a:pPr>
            <a:r>
              <a:rPr sz="1600" b="1" dirty="0">
                <a:solidFill>
                  <a:srgbClr val="102C57"/>
                </a:solidFill>
                <a:latin typeface="Times New Roman" panose="02020603050405020304" pitchFamily="18" charset="0"/>
                <a:cs typeface="Times New Roman" panose="02020603050405020304" pitchFamily="18" charset="0"/>
              </a:rPr>
              <a:t>• Primary Yield Drivers: </a:t>
            </a:r>
            <a:r>
              <a:rPr sz="1600" b="0" dirty="0">
                <a:solidFill>
                  <a:srgbClr val="282828"/>
                </a:solidFill>
                <a:latin typeface="Times New Roman" panose="02020603050405020304" pitchFamily="18" charset="0"/>
                <a:cs typeface="Times New Roman" panose="02020603050405020304" pitchFamily="18" charset="0"/>
              </a:rPr>
              <a:t>Crop variety, Seed Quality Score, and balanced N-P-K soil fertilization emerged as the most critical determinants of yield.</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Profitability Classifier: </a:t>
            </a:r>
            <a:r>
              <a:rPr sz="1600" b="0" dirty="0" err="1">
                <a:solidFill>
                  <a:srgbClr val="282828"/>
                </a:solidFill>
                <a:latin typeface="Times New Roman" panose="02020603050405020304" pitchFamily="18" charset="0"/>
                <a:cs typeface="Times New Roman" panose="02020603050405020304" pitchFamily="18" charset="0"/>
              </a:rPr>
              <a:t>XGBoost</a:t>
            </a:r>
            <a:r>
              <a:rPr sz="1600" b="0" dirty="0">
                <a:solidFill>
                  <a:srgbClr val="282828"/>
                </a:solidFill>
                <a:latin typeface="Times New Roman" panose="02020603050405020304" pitchFamily="18" charset="0"/>
                <a:cs typeface="Times New Roman" panose="02020603050405020304" pitchFamily="18" charset="0"/>
              </a:rPr>
              <a:t> Classifier predicted farm profitability with 92.25% Accuracy, 0.9242 F1-Score, and 0.9808 ROC-AUC.</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Practical Impact: </a:t>
            </a:r>
            <a:r>
              <a:rPr sz="1600" b="0" dirty="0">
                <a:solidFill>
                  <a:srgbClr val="282828"/>
                </a:solidFill>
                <a:latin typeface="Times New Roman" panose="02020603050405020304" pitchFamily="18" charset="0"/>
                <a:cs typeface="Times New Roman" panose="02020603050405020304" pitchFamily="18" charset="0"/>
              </a:rPr>
              <a:t>Enables pre-season financial feasibility assessments before farmers invest capital in seeds and fertilizers.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7013298" cy="830997"/>
          </a:xfrm>
        </p:spPr>
        <p:txBody>
          <a:bodyPr>
            <a:normAutofit fontScale="90000"/>
          </a:bodyPr>
          <a:lstStyle/>
          <a:p>
            <a:pPr>
              <a:defRPr sz="2000" b="1">
                <a:solidFill>
                  <a:srgbClr val="102C57"/>
                </a:solidFill>
              </a:defRPr>
            </a:pPr>
            <a:r>
              <a:rPr sz="4900" dirty="0">
                <a:solidFill>
                  <a:srgbClr val="FF0000"/>
                </a:solidFill>
                <a:latin typeface="Times New Roman" panose="02020603050405020304" pitchFamily="18" charset="0"/>
                <a:cs typeface="Times New Roman" panose="02020603050405020304" pitchFamily="18" charset="0"/>
              </a:rPr>
              <a:t>RESULTS: </a:t>
            </a:r>
            <a:br>
              <a:rPr lang="en-US" dirty="0"/>
            </a:br>
            <a:r>
              <a:rPr dirty="0"/>
              <a:t>Irrigation Technology &amp; Water Efficiency</a:t>
            </a:r>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irrigation_water_efficiency.png"/>
          <p:cNvPicPr>
            <a:picLocks noChangeAspect="1"/>
          </p:cNvPicPr>
          <p:nvPr/>
        </p:nvPicPr>
        <p:blipFill>
          <a:blip r:embed="rId3"/>
          <a:stretch>
            <a:fillRect/>
          </a:stretch>
        </p:blipFill>
        <p:spPr>
          <a:xfrm>
            <a:off x="320982" y="1650709"/>
            <a:ext cx="5486400" cy="3931920"/>
          </a:xfrm>
          <a:prstGeom prst="rect">
            <a:avLst/>
          </a:prstGeom>
        </p:spPr>
      </p:pic>
      <p:sp>
        <p:nvSpPr>
          <p:cNvPr id="32" name="TextBox 31"/>
          <p:cNvSpPr txBox="1"/>
          <p:nvPr/>
        </p:nvSpPr>
        <p:spPr>
          <a:xfrm>
            <a:off x="6307415" y="1943395"/>
            <a:ext cx="3770441" cy="3303468"/>
          </a:xfrm>
          <a:prstGeom prst="rect">
            <a:avLst/>
          </a:prstGeom>
          <a:noFill/>
        </p:spPr>
        <p:txBody>
          <a:bodyPr wrap="square">
            <a:spAutoFit/>
          </a:bodyPr>
          <a:lstStyle/>
          <a:p>
            <a:pPr>
              <a:spcAft>
                <a:spcPts val="1000"/>
              </a:spcAft>
            </a:pPr>
            <a:r>
              <a:rPr sz="1600" b="1" dirty="0">
                <a:solidFill>
                  <a:srgbClr val="102C57"/>
                </a:solidFill>
                <a:latin typeface="Times New Roman" panose="02020603050405020304" pitchFamily="18" charset="0"/>
                <a:cs typeface="Times New Roman" panose="02020603050405020304" pitchFamily="18" charset="0"/>
              </a:rPr>
              <a:t>• Drip Irrigation Superiority: </a:t>
            </a:r>
            <a:r>
              <a:rPr sz="1600" b="0" dirty="0">
                <a:solidFill>
                  <a:srgbClr val="282828"/>
                </a:solidFill>
                <a:latin typeface="Times New Roman" panose="02020603050405020304" pitchFamily="18" charset="0"/>
                <a:cs typeface="Times New Roman" panose="02020603050405020304" pitchFamily="18" charset="0"/>
              </a:rPr>
              <a:t>Drip irrigation generated significantly higher water productivity (</a:t>
            </a:r>
            <a:r>
              <a:rPr sz="1600" b="0" dirty="0" err="1">
                <a:solidFill>
                  <a:srgbClr val="282828"/>
                </a:solidFill>
                <a:latin typeface="Times New Roman" panose="02020603050405020304" pitchFamily="18" charset="0"/>
                <a:cs typeface="Times New Roman" panose="02020603050405020304" pitchFamily="18" charset="0"/>
              </a:rPr>
              <a:t>Tonnes</a:t>
            </a:r>
            <a:r>
              <a:rPr sz="1600" b="0" dirty="0">
                <a:solidFill>
                  <a:srgbClr val="282828"/>
                </a:solidFill>
                <a:latin typeface="Times New Roman" panose="02020603050405020304" pitchFamily="18" charset="0"/>
                <a:cs typeface="Times New Roman" panose="02020603050405020304" pitchFamily="18" charset="0"/>
              </a:rPr>
              <a:t>/1000m³) across all 3 agricultural seasons.</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Flood Irrigation Waste: </a:t>
            </a:r>
            <a:r>
              <a:rPr sz="1600" b="0" dirty="0">
                <a:solidFill>
                  <a:srgbClr val="282828"/>
                </a:solidFill>
                <a:latin typeface="Times New Roman" panose="02020603050405020304" pitchFamily="18" charset="0"/>
                <a:cs typeface="Times New Roman" panose="02020603050405020304" pitchFamily="18" charset="0"/>
              </a:rPr>
              <a:t>Traditional flood irrigation consumed the highest water volumes with the lowest marginal yield return.</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Correlation Findings: </a:t>
            </a:r>
            <a:r>
              <a:rPr sz="1600" b="0" dirty="0">
                <a:solidFill>
                  <a:srgbClr val="282828"/>
                </a:solidFill>
                <a:latin typeface="Times New Roman" panose="02020603050405020304" pitchFamily="18" charset="0"/>
                <a:cs typeface="Times New Roman" panose="02020603050405020304" pitchFamily="18" charset="0"/>
              </a:rPr>
              <a:t>Strong positive correlation observed between water efficiency, optimized fertilizer usage, and net farm revenue.</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6327958" cy="1010739"/>
          </a:xfrm>
        </p:spPr>
        <p:txBody>
          <a:bodyPr>
            <a:normAutofit fontScale="90000"/>
          </a:bodyPr>
          <a:lstStyle/>
          <a:p>
            <a:pPr>
              <a:defRPr sz="2000" b="1">
                <a:solidFill>
                  <a:srgbClr val="102C57"/>
                </a:solidFill>
              </a:defRPr>
            </a:pPr>
            <a:r>
              <a:rPr sz="4400" dirty="0">
                <a:solidFill>
                  <a:srgbClr val="FF0000"/>
                </a:solidFill>
                <a:latin typeface="Times New Roman" panose="02020603050405020304" pitchFamily="18" charset="0"/>
                <a:cs typeface="Times New Roman" panose="02020603050405020304" pitchFamily="18" charset="0"/>
              </a:rPr>
              <a:t>RESULTS: </a:t>
            </a:r>
            <a:br>
              <a:rPr lang="en-US" dirty="0"/>
            </a:br>
            <a:r>
              <a:rPr dirty="0"/>
              <a:t>Crop Economic Breakdown &amp; ANOVA Results</a:t>
            </a:r>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rop_profit_comparison.png"/>
          <p:cNvPicPr>
            <a:picLocks noChangeAspect="1"/>
          </p:cNvPicPr>
          <p:nvPr/>
        </p:nvPicPr>
        <p:blipFill>
          <a:blip r:embed="rId3"/>
          <a:stretch>
            <a:fillRect/>
          </a:stretch>
        </p:blipFill>
        <p:spPr>
          <a:xfrm>
            <a:off x="731520" y="1645920"/>
            <a:ext cx="5486400" cy="3931920"/>
          </a:xfrm>
          <a:prstGeom prst="rect">
            <a:avLst/>
          </a:prstGeom>
        </p:spPr>
      </p:pic>
      <p:sp>
        <p:nvSpPr>
          <p:cNvPr id="32" name="TextBox 31"/>
          <p:cNvSpPr txBox="1"/>
          <p:nvPr/>
        </p:nvSpPr>
        <p:spPr>
          <a:xfrm>
            <a:off x="6317142" y="2103120"/>
            <a:ext cx="3420245" cy="3549690"/>
          </a:xfrm>
          <a:prstGeom prst="rect">
            <a:avLst/>
          </a:prstGeom>
          <a:noFill/>
        </p:spPr>
        <p:txBody>
          <a:bodyPr wrap="square">
            <a:spAutoFit/>
          </a:bodyPr>
          <a:lstStyle/>
          <a:p>
            <a:pPr>
              <a:spcAft>
                <a:spcPts val="1000"/>
              </a:spcAft>
            </a:pPr>
            <a:r>
              <a:rPr sz="1600" b="1" dirty="0">
                <a:solidFill>
                  <a:srgbClr val="102C57"/>
                </a:solidFill>
                <a:latin typeface="Times New Roman" panose="02020603050405020304" pitchFamily="18" charset="0"/>
                <a:cs typeface="Times New Roman" panose="02020603050405020304" pitchFamily="18" charset="0"/>
              </a:rPr>
              <a:t>• Economic Leaders: </a:t>
            </a:r>
            <a:r>
              <a:rPr sz="1600" b="0" dirty="0">
                <a:solidFill>
                  <a:srgbClr val="282828"/>
                </a:solidFill>
                <a:latin typeface="Times New Roman" panose="02020603050405020304" pitchFamily="18" charset="0"/>
                <a:cs typeface="Times New Roman" panose="02020603050405020304" pitchFamily="18" charset="0"/>
              </a:rPr>
              <a:t>Commercial cash crops (Sugarcane, Chilli, Cotton) achieved the highest net profits per hectare.</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Pulse &amp; Grain Value: </a:t>
            </a:r>
            <a:r>
              <a:rPr sz="1600" b="0" dirty="0">
                <a:solidFill>
                  <a:srgbClr val="282828"/>
                </a:solidFill>
                <a:latin typeface="Times New Roman" panose="02020603050405020304" pitchFamily="18" charset="0"/>
                <a:cs typeface="Times New Roman" panose="02020603050405020304" pitchFamily="18" charset="0"/>
              </a:rPr>
              <a:t>Pulses and Wheat provided critical soil nitrogen replenishment and steady seasonal cash flow.</a:t>
            </a:r>
          </a:p>
          <a:p>
            <a:pPr>
              <a:spcAft>
                <a:spcPts val="1000"/>
              </a:spcAft>
            </a:pPr>
            <a:r>
              <a:rPr sz="1600" b="1" dirty="0">
                <a:solidFill>
                  <a:srgbClr val="102C57"/>
                </a:solidFill>
                <a:latin typeface="Times New Roman" panose="02020603050405020304" pitchFamily="18" charset="0"/>
                <a:cs typeface="Times New Roman" panose="02020603050405020304" pitchFamily="18" charset="0"/>
              </a:rPr>
              <a:t>• Hypothesis Testing: </a:t>
            </a:r>
            <a:r>
              <a:rPr sz="1600" b="0" dirty="0">
                <a:solidFill>
                  <a:srgbClr val="282828"/>
                </a:solidFill>
                <a:latin typeface="Times New Roman" panose="02020603050405020304" pitchFamily="18" charset="0"/>
                <a:cs typeface="Times New Roman" panose="02020603050405020304" pitchFamily="18" charset="0"/>
              </a:rPr>
              <a:t>One-Way ANOVA confirmed statistically significant differences (p &lt; 0.001) across seasons for Yield, Rainfall, and Net Profit.</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400" dirty="0">
                <a:solidFill>
                  <a:srgbClr val="FF0000"/>
                </a:solidFill>
                <a:latin typeface="Times New Roman" panose="02020603050405020304" pitchFamily="18" charset="0"/>
                <a:cs typeface="Times New Roman" panose="02020603050405020304" pitchFamily="18" charset="0"/>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675957" y="2146460"/>
            <a:ext cx="8490301" cy="3585597"/>
          </a:xfrm>
          <a:prstGeom prst="rect">
            <a:avLst/>
          </a:prstGeom>
          <a:noFill/>
        </p:spPr>
        <p:txBody>
          <a:bodyPr wrap="square">
            <a:spAutoFit/>
          </a:bodyPr>
          <a:lstStyle/>
          <a:p>
            <a:pPr>
              <a:spcAft>
                <a:spcPts val="1400"/>
              </a:spcAft>
            </a:pPr>
            <a:r>
              <a:rPr sz="1600" b="1" dirty="0">
                <a:solidFill>
                  <a:srgbClr val="102C57"/>
                </a:solidFill>
                <a:latin typeface="Times New Roman" panose="02020603050405020304" pitchFamily="18" charset="0"/>
                <a:cs typeface="Times New Roman" panose="02020603050405020304" pitchFamily="18" charset="0"/>
              </a:rPr>
              <a:t>1. Real-Time IoT &amp; Smart Sensor Integration: </a:t>
            </a:r>
            <a:r>
              <a:rPr sz="1600" b="0" dirty="0">
                <a:solidFill>
                  <a:srgbClr val="282828"/>
                </a:solidFill>
                <a:latin typeface="Times New Roman" panose="02020603050405020304" pitchFamily="18" charset="0"/>
                <a:cs typeface="Times New Roman" panose="02020603050405020304" pitchFamily="18" charset="0"/>
              </a:rPr>
              <a:t>Integrate on-farm IoT sensors for continuous telemetry streaming of real-time soil moisture, temperature, and electrical conductivity to automate drip irrigation valves.</a:t>
            </a:r>
          </a:p>
          <a:p>
            <a:pPr>
              <a:spcAft>
                <a:spcPts val="1400"/>
              </a:spcAft>
            </a:pPr>
            <a:r>
              <a:rPr sz="1600" b="1" dirty="0">
                <a:solidFill>
                  <a:srgbClr val="102C57"/>
                </a:solidFill>
                <a:latin typeface="Times New Roman" panose="02020603050405020304" pitchFamily="18" charset="0"/>
                <a:cs typeface="Times New Roman" panose="02020603050405020304" pitchFamily="18" charset="0"/>
              </a:rPr>
              <a:t>2. Satellite Remote Sensing &amp; Computer Vision: </a:t>
            </a:r>
            <a:r>
              <a:rPr sz="1600" b="0" dirty="0">
                <a:solidFill>
                  <a:srgbClr val="282828"/>
                </a:solidFill>
                <a:latin typeface="Times New Roman" panose="02020603050405020304" pitchFamily="18" charset="0"/>
                <a:cs typeface="Times New Roman" panose="02020603050405020304" pitchFamily="18" charset="0"/>
              </a:rPr>
              <a:t>Leverage high-resolution Sentinel/Landsat multispectral imagery (NDVI, NDWI) and drone surveys to spot localized crop stress, nutrient deficiencies, and pest infestations.</a:t>
            </a:r>
          </a:p>
          <a:p>
            <a:pPr>
              <a:spcAft>
                <a:spcPts val="1400"/>
              </a:spcAft>
            </a:pPr>
            <a:r>
              <a:rPr sz="1600" b="1" dirty="0">
                <a:solidFill>
                  <a:srgbClr val="102C57"/>
                </a:solidFill>
                <a:latin typeface="Times New Roman" panose="02020603050405020304" pitchFamily="18" charset="0"/>
                <a:cs typeface="Times New Roman" panose="02020603050405020304" pitchFamily="18" charset="0"/>
              </a:rPr>
              <a:t>3. Deep Learning &amp; Transformer-based Weather Forecasting: </a:t>
            </a:r>
            <a:r>
              <a:rPr sz="1600" b="0" dirty="0">
                <a:solidFill>
                  <a:srgbClr val="282828"/>
                </a:solidFill>
                <a:latin typeface="Times New Roman" panose="02020603050405020304" pitchFamily="18" charset="0"/>
                <a:cs typeface="Times New Roman" panose="02020603050405020304" pitchFamily="18" charset="0"/>
              </a:rPr>
              <a:t>Incorporate regional numerical weather prediction and transformer models to predict monsoon onset anomalies, unseasonal rains, and heatwaves.</a:t>
            </a:r>
          </a:p>
          <a:p>
            <a:pPr>
              <a:spcAft>
                <a:spcPts val="1400"/>
              </a:spcAft>
            </a:pPr>
            <a:r>
              <a:rPr sz="1600" b="1" dirty="0">
                <a:solidFill>
                  <a:srgbClr val="102C57"/>
                </a:solidFill>
                <a:latin typeface="Times New Roman" panose="02020603050405020304" pitchFamily="18" charset="0"/>
                <a:cs typeface="Times New Roman" panose="02020603050405020304" pitchFamily="18" charset="0"/>
              </a:rPr>
              <a:t>4. Mobile Decision Support Platform: </a:t>
            </a:r>
            <a:r>
              <a:rPr sz="1600" b="0" dirty="0">
                <a:solidFill>
                  <a:srgbClr val="282828"/>
                </a:solidFill>
                <a:latin typeface="Times New Roman" panose="02020603050405020304" pitchFamily="18" charset="0"/>
                <a:cs typeface="Times New Roman" panose="02020603050405020304" pitchFamily="18" charset="0"/>
              </a:rPr>
              <a:t>Deploy lightweight quantized </a:t>
            </a:r>
            <a:r>
              <a:rPr sz="1600" b="0" dirty="0" err="1">
                <a:solidFill>
                  <a:srgbClr val="282828"/>
                </a:solidFill>
                <a:latin typeface="Times New Roman" panose="02020603050405020304" pitchFamily="18" charset="0"/>
                <a:cs typeface="Times New Roman" panose="02020603050405020304" pitchFamily="18" charset="0"/>
              </a:rPr>
              <a:t>XGBoost</a:t>
            </a:r>
            <a:r>
              <a:rPr sz="1600" b="0" dirty="0">
                <a:solidFill>
                  <a:srgbClr val="282828"/>
                </a:solidFill>
                <a:latin typeface="Times New Roman" panose="02020603050405020304" pitchFamily="18" charset="0"/>
                <a:cs typeface="Times New Roman" panose="02020603050405020304" pitchFamily="18" charset="0"/>
              </a:rPr>
              <a:t> models into a multilingual mobile app offering personalized, voice-assisted advisories for rural farmers without continuous internet access.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solidFill>
                  <a:srgbClr val="FF0000"/>
                </a:solidFill>
                <a:latin typeface="Times New Roman" panose="02020603050405020304" pitchFamily="18" charset="0"/>
                <a:cs typeface="Times New Roman" panose="02020603050405020304" pitchFamily="18" charset="0"/>
              </a:rPr>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675957" y="1275371"/>
            <a:ext cx="8881672" cy="369332"/>
          </a:xfrm>
          <a:prstGeom prst="rect">
            <a:avLst/>
          </a:prstGeom>
          <a:noFill/>
        </p:spPr>
        <p:txBody>
          <a:bodyPr wrap="square">
            <a:spAutoFit/>
          </a:bodyPr>
          <a:lstStyle/>
          <a:p>
            <a:pPr>
              <a:defRPr sz="1800" b="1">
                <a:solidFill>
                  <a:srgbClr val="102C57"/>
                </a:solidFill>
              </a:defRPr>
            </a:pPr>
            <a:r>
              <a:rPr lang="en-US" dirty="0"/>
              <a:t>https://github.com/Ksmashhero06/Seasonal-Agriculture-Performance-Analysis/</a:t>
            </a:r>
            <a:endParaRPr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535022" y="370589"/>
            <a:ext cx="9572016" cy="884658"/>
          </a:xfrm>
        </p:spPr>
        <p:txBody>
          <a:bodyPr>
            <a:normAutofit fontScale="90000"/>
          </a:bodyPr>
          <a:lstStyle/>
          <a:p>
            <a:r>
              <a:rPr lang="en-IN" sz="3600" dirty="0">
                <a:solidFill>
                  <a:srgbClr val="FF0000"/>
                </a:solidFill>
                <a:latin typeface="Times New Roman" panose="02020603050405020304" pitchFamily="18" charset="0"/>
                <a:cs typeface="Times New Roman" panose="02020603050405020304" pitchFamily="18" charset="0"/>
              </a:rPr>
              <a:t>VOIS COURSE COMPLETION CERTIFICATE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65530D36-E44D-B79F-3F14-E427FC00099A}"/>
              </a:ext>
            </a:extLst>
          </p:cNvPr>
          <p:cNvPicPr>
            <a:picLocks noChangeAspect="1"/>
          </p:cNvPicPr>
          <p:nvPr/>
        </p:nvPicPr>
        <p:blipFill>
          <a:blip r:embed="rId3"/>
          <a:srcRect l="919" t="1724"/>
          <a:stretch>
            <a:fillRect/>
          </a:stretch>
        </p:blipFill>
        <p:spPr>
          <a:xfrm>
            <a:off x="675957" y="1608410"/>
            <a:ext cx="7851503" cy="433248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429966" y="2545370"/>
            <a:ext cx="6935822" cy="700114"/>
          </a:xfrm>
          <a:prstGeom prst="rect">
            <a:avLst/>
          </a:prstGeom>
        </p:spPr>
        <p:txBody>
          <a:bodyPr anchor="ctr">
            <a:noAutofit/>
          </a:bodyPr>
          <a:lstStyle/>
          <a:p>
            <a:pPr algn="ctr"/>
            <a:r>
              <a:rPr lang="en-US" sz="5400" b="1" dirty="0">
                <a:solidFill>
                  <a:srgbClr val="FF0000"/>
                </a:solidFill>
                <a:latin typeface="Times New Roman" panose="02020603050405020304" pitchFamily="18" charset="0"/>
                <a:cs typeface="Times New Roman" panose="02020603050405020304" pitchFamily="18" charset="0"/>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1638</TotalTime>
  <Words>1102</Words>
  <Application>Microsoft Office PowerPoint</Application>
  <PresentationFormat>Widescreen</PresentationFormat>
  <Paragraphs>56</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Times New Roman</vt:lpstr>
      <vt:lpstr>Trebuchet MS</vt:lpstr>
      <vt:lpstr>Wingdings</vt:lpstr>
      <vt:lpstr>Wingdings 3</vt:lpstr>
      <vt:lpstr>Facet</vt:lpstr>
      <vt:lpstr>Project Title: Seasonal Agriculture Performance Analysis &amp; Predictive Modeling</vt:lpstr>
      <vt:lpstr>PROBLEM  STATEMENT</vt:lpstr>
      <vt:lpstr>PROJECT DESCRIPTION  </vt:lpstr>
      <vt:lpstr>WHO ARE THE END USERS?</vt:lpstr>
      <vt:lpstr>TECHNOLOGY USED</vt:lpstr>
      <vt:lpstr>RESULTS: SEASONAL YIELD &amp; PROFITABILITY DYNAMICS</vt:lpstr>
      <vt:lpstr>RESULTS:  Crop Yield Prediction Model (R² = 0.990)</vt:lpstr>
      <vt:lpstr>RESULTS:  Feature Drivers &amp; Farm Profitability Model</vt:lpstr>
      <vt:lpstr>RESULTS:  Irrigation Technology &amp; Water Efficiency</vt:lpstr>
      <vt:lpstr>RESULTS:  Crop Economic Breakdown &amp; ANOVA Results</vt:lpstr>
      <vt:lpstr>FUTURE SCOPE</vt:lpstr>
      <vt:lpstr>GITHUB LINK</vt:lpstr>
      <vt:lpstr>VOIS COURSE COMPLETION CERTIFICATE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Sathiyamoorthi K</cp:lastModifiedBy>
  <cp:revision>102</cp:revision>
  <dcterms:created xsi:type="dcterms:W3CDTF">2021-07-11T13:13:15Z</dcterms:created>
  <dcterms:modified xsi:type="dcterms:W3CDTF">2026-09-10T19:13:01Z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