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defRPr b="1" sz="1800">
                <a:solidFill>
                  <a:srgbClr val="102C57"/>
                </a:solidFill>
              </a:defRPr>
            </a:pPr>
            <a:r>
              <a:t>Student Name: Sathiyamoorthi K</a:t>
            </a:r>
            <a:endParaRPr lang="en-IN" b="0" dirty="0">
              <a:solidFill>
                <a:schemeClr val="tx1"/>
              </a:solidFill>
            </a:endParaRPr>
          </a:p>
          <a:p>
            <a:pPr>
              <a:defRPr b="1" sz="1600">
                <a:solidFill>
                  <a:srgbClr val="282828"/>
                </a:solidFill>
              </a:defRPr>
            </a:pPr>
            <a:r>
              <a:t>College Name: IFET College of Engineering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pPr>
              <a:defRPr b="1" sz="2000">
                <a:solidFill>
                  <a:srgbClr val="102C57"/>
                </a:solidFill>
              </a:defRPr>
            </a:pPr>
            <a:r>
              <a:t>Project Title: Seasonal Agriculture Performance Analysis &amp; Predictive Modeling</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pPr>
              <a:defRPr b="1" sz="1600">
                <a:solidFill>
                  <a:srgbClr val="102C57"/>
                </a:solidFill>
              </a:defRPr>
            </a:pPr>
            <a:r>
              <a:t>AICTE STU ID: STU663c9352627131715245906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[write detail description about your project ]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731520" y="1645920"/>
            <a:ext cx="10515600" cy="4114800"/>
          </a:xfrm>
          <a:prstGeom prst="rect">
            <a:avLst/>
          </a:prstGeom>
          <a:noFill/>
        </p:spPr>
        <p:txBody>
          <a:bodyPr wrap="square">
            <a:spAutoFit/>
          </a:bodyPr>
          <a:lstStyle/>
          <a:p>
            <a:pPr>
              <a:spcAft>
                <a:spcPts val="1200"/>
              </a:spcAft>
            </a:pPr>
            <a:r>
              <a:rPr b="1" sz="1400">
                <a:solidFill>
                  <a:srgbClr val="102C57"/>
                </a:solidFill>
              </a:rPr>
              <a:t>• Overview: </a:t>
            </a:r>
            <a:r>
              <a:rPr b="0" sz="1300">
                <a:solidFill>
                  <a:srgbClr val="282828"/>
                </a:solidFill>
              </a:rPr>
              <a:t>Comprehensive data science and machine learning project analyzing 4,000 agricultural farm operations across 8 major Indian states, 8 crops, and 3 distinct agricultural seasons (Kharif, Rabi, and Zaid).</a:t>
            </a:r>
          </a:p>
          <a:p>
            <a:pPr>
              <a:spcAft>
                <a:spcPts val="1200"/>
              </a:spcAft>
            </a:pPr>
            <a:r>
              <a:rPr b="1" sz="1400">
                <a:solidFill>
                  <a:srgbClr val="102C57"/>
                </a:solidFill>
              </a:rPr>
              <a:t>• Key Investigations: </a:t>
            </a:r>
            <a:r>
              <a:rPr b="0" sz="1300">
                <a:solidFill>
                  <a:srgbClr val="282828"/>
                </a:solidFill>
              </a:rPr>
              <a:t>Explores the intricate relationships between seasonal weather patterns (rainfall, temperature, humidity, sunlight), soil nutrient profiles (N-P-K, pH, moisture), agronomic inputs (irrigation technologies, fertilizers, pesticides), and economic outcomes (production, costs, revenue, net profit, and water efficiency).</a:t>
            </a:r>
          </a:p>
          <a:p>
            <a:pPr>
              <a:spcAft>
                <a:spcPts val="1200"/>
              </a:spcAft>
            </a:pPr>
            <a:r>
              <a:rPr b="1" sz="1400">
                <a:solidFill>
                  <a:srgbClr val="102C57"/>
                </a:solidFill>
              </a:rPr>
              <a:t>• Methodology &amp; Rigor: </a:t>
            </a:r>
            <a:r>
              <a:rPr b="0" sz="1300">
                <a:solidFill>
                  <a:srgbClr val="282828"/>
                </a:solidFill>
              </a:rPr>
              <a:t>Implements domain-aware data imputation, multi-season exploratory data analysis (EDA), statistical hypothesis testing (One-way ANOVA), and machine learning regression and classification models.</a:t>
            </a:r>
          </a:p>
          <a:p>
            <a:pPr>
              <a:spcAft>
                <a:spcPts val="1200"/>
              </a:spcAft>
            </a:pPr>
            <a:r>
              <a:rPr b="1" sz="1400">
                <a:solidFill>
                  <a:srgbClr val="102C57"/>
                </a:solidFill>
              </a:rPr>
              <a:t>• Predictive Modeling: </a:t>
            </a:r>
            <a:r>
              <a:rPr b="0" sz="1300">
                <a:solidFill>
                  <a:srgbClr val="282828"/>
                </a:solidFill>
              </a:rPr>
              <a:t>Trains and benchmarks multiple algorithms (Linear/Ridge Regression, Random Forest, Gradient Boosting, XGBoost), achieving an outstanding R² score of 0.990 for Crop Yield Prediction and 92.25% accuracy for Farm Profitability Classification.</a:t>
            </a:r>
          </a:p>
          <a:p>
            <a:pPr>
              <a:spcAft>
                <a:spcPts val="1200"/>
              </a:spcAft>
            </a:pPr>
            <a:r>
              <a:rPr b="1" sz="1400">
                <a:solidFill>
                  <a:srgbClr val="102C57"/>
                </a:solidFill>
              </a:rPr>
              <a:t>• Strategic Value: </a:t>
            </a:r>
            <a:r>
              <a:rPr b="0" sz="1300">
                <a:solidFill>
                  <a:srgbClr val="282828"/>
                </a:solidFill>
              </a:rPr>
              <a:t>Delivers actionable, data-driven seasonal crop planning and irrigation recommendations to optimize resource efficiency and farmer livelihoods.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731520" y="1828800"/>
            <a:ext cx="10515600" cy="3840480"/>
          </a:xfrm>
          <a:prstGeom prst="rect">
            <a:avLst/>
          </a:prstGeom>
          <a:noFill/>
        </p:spPr>
        <p:txBody>
          <a:bodyPr wrap="square">
            <a:spAutoFit/>
          </a:bodyPr>
          <a:lstStyle/>
          <a:p>
            <a:pPr>
              <a:spcAft>
                <a:spcPts val="1400"/>
              </a:spcAft>
            </a:pPr>
            <a:r>
              <a:rPr b="1" sz="1400">
                <a:solidFill>
                  <a:srgbClr val="102C57"/>
                </a:solidFill>
              </a:rPr>
              <a:t>1. Farmers &amp; Agricultural Cooperatives: </a:t>
            </a:r>
            <a:r>
              <a:rPr b="0" sz="1300">
                <a:solidFill>
                  <a:srgbClr val="282828"/>
                </a:solidFill>
              </a:rPr>
              <a:t>Provides actionable seasonal advisories for optimal crop selection, timing, and irrigation management (Drip vs. Flood) to maximize yield and net profit while minimizing production costs.</a:t>
            </a:r>
          </a:p>
          <a:p>
            <a:pPr>
              <a:spcAft>
                <a:spcPts val="1400"/>
              </a:spcAft>
            </a:pPr>
            <a:r>
              <a:rPr b="1" sz="1400">
                <a:solidFill>
                  <a:srgbClr val="102C57"/>
                </a:solidFill>
              </a:rPr>
              <a:t>2. Agronomists &amp; Extension Officers: </a:t>
            </a:r>
            <a:r>
              <a:rPr b="0" sz="1300">
                <a:solidFill>
                  <a:srgbClr val="282828"/>
                </a:solidFill>
              </a:rPr>
              <a:t>Empowers field officers with diagnostic tools to evaluate pest/disease vulnerabilities, soil nutrient requirements (N-P-K balance), and water efficiency metrics across varying seasons.</a:t>
            </a:r>
          </a:p>
          <a:p>
            <a:pPr>
              <a:spcAft>
                <a:spcPts val="1400"/>
              </a:spcAft>
            </a:pPr>
            <a:r>
              <a:rPr b="1" sz="1400">
                <a:solidFill>
                  <a:srgbClr val="102C57"/>
                </a:solidFill>
              </a:rPr>
              <a:t>3. Government Agricultural Departments &amp; Policymakers: </a:t>
            </a:r>
            <a:r>
              <a:rPr b="0" sz="1300">
                <a:solidFill>
                  <a:srgbClr val="282828"/>
                </a:solidFill>
              </a:rPr>
              <a:t>Enables evidence-based regional production forecasting, drought/flood contingency planning, and targeted water-subsidy resource allocation.</a:t>
            </a:r>
          </a:p>
          <a:p>
            <a:pPr>
              <a:spcAft>
                <a:spcPts val="1400"/>
              </a:spcAft>
            </a:pPr>
            <a:r>
              <a:rPr b="1" sz="1400">
                <a:solidFill>
                  <a:srgbClr val="102C57"/>
                </a:solidFill>
              </a:rPr>
              <a:t>4. AgTech Companies &amp; Supply Chain Managers: </a:t>
            </a:r>
            <a:r>
              <a:rPr b="0" sz="1300">
                <a:solidFill>
                  <a:srgbClr val="282828"/>
                </a:solidFill>
              </a:rPr>
              <a:t>Delivers high-precision pre-harvest yield estimations to stabilize storage, logistics, food processing, and fair market procurement pricing.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TextBox 16"/>
          <p:cNvSpPr txBox="1"/>
          <p:nvPr/>
        </p:nvSpPr>
        <p:spPr>
          <a:xfrm>
            <a:off x="731520" y="1645920"/>
            <a:ext cx="10515600" cy="4114800"/>
          </a:xfrm>
          <a:prstGeom prst="rect">
            <a:avLst/>
          </a:prstGeom>
          <a:noFill/>
        </p:spPr>
        <p:txBody>
          <a:bodyPr wrap="square">
            <a:spAutoFit/>
          </a:bodyPr>
          <a:lstStyle/>
          <a:p>
            <a:pPr>
              <a:spcAft>
                <a:spcPts val="1200"/>
              </a:spcAft>
            </a:pPr>
            <a:r>
              <a:rPr b="1" sz="1400">
                <a:solidFill>
                  <a:srgbClr val="102C57"/>
                </a:solidFill>
              </a:rPr>
              <a:t>• Programming Language: </a:t>
            </a:r>
            <a:r>
              <a:rPr b="0" sz="1300">
                <a:solidFill>
                  <a:srgbClr val="282828"/>
                </a:solidFill>
              </a:rPr>
              <a:t>Python 3.11+ (High performance data science &amp; ML runtime)</a:t>
            </a:r>
          </a:p>
          <a:p>
            <a:pPr>
              <a:spcAft>
                <a:spcPts val="1200"/>
              </a:spcAft>
            </a:pPr>
            <a:r>
              <a:rPr b="1" sz="1400">
                <a:solidFill>
                  <a:srgbClr val="102C57"/>
                </a:solidFill>
              </a:rPr>
              <a:t>• Data Manipulation &amp; Wrangling: </a:t>
            </a:r>
            <a:r>
              <a:rPr b="0" sz="1300">
                <a:solidFill>
                  <a:srgbClr val="282828"/>
                </a:solidFill>
              </a:rPr>
              <a:t>Pandas (DataFrame transformations, grouped aggregations), NumPy (Vectorized numerical computations)</a:t>
            </a:r>
          </a:p>
          <a:p>
            <a:pPr>
              <a:spcAft>
                <a:spcPts val="1200"/>
              </a:spcAft>
            </a:pPr>
            <a:r>
              <a:rPr b="1" sz="1400">
                <a:solidFill>
                  <a:srgbClr val="102C57"/>
                </a:solidFill>
              </a:rPr>
              <a:t>• Statistical Inference: </a:t>
            </a:r>
            <a:r>
              <a:rPr b="0" sz="1300">
                <a:solidFill>
                  <a:srgbClr val="282828"/>
                </a:solidFill>
              </a:rPr>
              <a:t>SciPy Stats (One-Way ANOVA hypothesis testing, p-value calculation, variance analysis)</a:t>
            </a:r>
          </a:p>
          <a:p>
            <a:pPr>
              <a:spcAft>
                <a:spcPts val="1200"/>
              </a:spcAft>
            </a:pPr>
            <a:r>
              <a:rPr b="1" sz="1400">
                <a:solidFill>
                  <a:srgbClr val="102C57"/>
                </a:solidFill>
              </a:rPr>
              <a:t>• Machine Learning Frameworks: </a:t>
            </a:r>
            <a:r>
              <a:rPr b="0" sz="1300">
                <a:solidFill>
                  <a:srgbClr val="282828"/>
                </a:solidFill>
              </a:rPr>
              <a:t>Scikit-Learn (Pipelines, ColumnTransformer, StandardScaler, OneHotEncoder, Ridge Regression, Random Forest, Gradient Boosting), XGBoost (Extreme Gradient Boosting Regressor &amp; Classifier)</a:t>
            </a:r>
          </a:p>
          <a:p>
            <a:pPr>
              <a:spcAft>
                <a:spcPts val="1200"/>
              </a:spcAft>
            </a:pPr>
            <a:r>
              <a:rPr b="1" sz="1400">
                <a:solidFill>
                  <a:srgbClr val="102C57"/>
                </a:solidFill>
              </a:rPr>
              <a:t>• Data Visualization &amp; Analytics: </a:t>
            </a:r>
            <a:r>
              <a:rPr b="0" sz="1300">
                <a:solidFill>
                  <a:srgbClr val="282828"/>
                </a:solidFill>
              </a:rPr>
              <a:t>Matplotlib &amp; Seaborn (High-resolution multi-panel plots, heatmaps, boxplots, residual scatter plots)</a:t>
            </a:r>
          </a:p>
          <a:p>
            <a:pPr>
              <a:spcAft>
                <a:spcPts val="1200"/>
              </a:spcAft>
            </a:pPr>
            <a:r>
              <a:rPr b="1" sz="1400">
                <a:solidFill>
                  <a:srgbClr val="102C57"/>
                </a:solidFill>
              </a:rPr>
              <a:t>• Model Serialization &amp; Reporting: </a:t>
            </a:r>
            <a:r>
              <a:rPr b="0" sz="1300">
                <a:solidFill>
                  <a:srgbClr val="282828"/>
                </a:solidFill>
              </a:rPr>
              <a:t>Joblib (Model persistence .joblib), Python-PPTX, Jupyter Notebook (.ipynb)</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pPr>
              <a:defRPr sz="2000" b="1">
                <a:solidFill>
                  <a:srgbClr val="102C57"/>
                </a:solidFill>
              </a:defRPr>
            </a:pPr>
            <a:r>
              <a:t>RESULTS: Seasonal Yield &amp; Profitability Dynamics</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seasonal_yield_profit_comparison.png"/>
          <p:cNvPicPr>
            <a:picLocks noChangeAspect="1"/>
          </p:cNvPicPr>
          <p:nvPr/>
        </p:nvPicPr>
        <p:blipFill>
          <a:blip r:embed="rId3"/>
          <a:stretch>
            <a:fillRect/>
          </a:stretch>
        </p:blipFill>
        <p:spPr>
          <a:xfrm>
            <a:off x="731520" y="1645920"/>
            <a:ext cx="5486400" cy="3931920"/>
          </a:xfrm>
          <a:prstGeom prst="rect">
            <a:avLst/>
          </a:prstGeom>
        </p:spPr>
      </p:pic>
      <p:sp>
        <p:nvSpPr>
          <p:cNvPr id="25" name="TextBox 24"/>
          <p:cNvSpPr txBox="1"/>
          <p:nvPr/>
        </p:nvSpPr>
        <p:spPr>
          <a:xfrm>
            <a:off x="6492240" y="1645920"/>
            <a:ext cx="5303520" cy="3931920"/>
          </a:xfrm>
          <a:prstGeom prst="rect">
            <a:avLst/>
          </a:prstGeom>
          <a:noFill/>
        </p:spPr>
        <p:txBody>
          <a:bodyPr wrap="square">
            <a:spAutoFit/>
          </a:bodyPr>
          <a:lstStyle/>
          <a:p>
            <a:pPr>
              <a:spcAft>
                <a:spcPts val="1000"/>
              </a:spcAft>
            </a:pPr>
            <a:r>
              <a:rPr b="1" sz="1300">
                <a:solidFill>
                  <a:srgbClr val="102C57"/>
                </a:solidFill>
              </a:rPr>
              <a:t>• Kharif Season: </a:t>
            </a:r>
            <a:r>
              <a:rPr b="0" sz="1200">
                <a:solidFill>
                  <a:srgbClr val="282828"/>
                </a:solidFill>
              </a:rPr>
              <a:t>Exhibits highest overall rainfall and moisture, supporting heavy crops but experiencing elevated disease/pest risks.</a:t>
            </a:r>
          </a:p>
          <a:p>
            <a:pPr>
              <a:spcAft>
                <a:spcPts val="1000"/>
              </a:spcAft>
            </a:pPr>
            <a:r>
              <a:rPr b="1" sz="1300">
                <a:solidFill>
                  <a:srgbClr val="102C57"/>
                </a:solidFill>
              </a:rPr>
              <a:t>• Rabi Season: </a:t>
            </a:r>
            <a:r>
              <a:rPr b="0" sz="1200">
                <a:solidFill>
                  <a:srgbClr val="282828"/>
                </a:solidFill>
              </a:rPr>
              <a:t>Delivers optimal yield consistency and strong net profits, benefiting from controlled irrigation and favorable winter temperatures.</a:t>
            </a:r>
          </a:p>
          <a:p>
            <a:pPr>
              <a:spcAft>
                <a:spcPts val="1000"/>
              </a:spcAft>
            </a:pPr>
            <a:r>
              <a:rPr b="1" sz="1300">
                <a:solidFill>
                  <a:srgbClr val="102C57"/>
                </a:solidFill>
              </a:rPr>
              <a:t>• Zaid Season: </a:t>
            </a:r>
            <a:r>
              <a:rPr b="0" sz="1200">
                <a:solidFill>
                  <a:srgbClr val="282828"/>
                </a:solidFill>
              </a:rPr>
              <a:t>Characterized by high ambient temperatures and dry conditions; profitability depends critically on high-efficiency irrigation methods.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pPr>
              <a:defRPr sz="2000" b="1">
                <a:solidFill>
                  <a:srgbClr val="102C57"/>
                </a:solidFill>
              </a:defRPr>
            </a:pPr>
            <a:r>
              <a:t>RESULTS: Crop Yield Prediction Model (R² = 0.990)</a:t>
            </a: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p:txBody>
      </p:sp>
      <p:pic>
        <p:nvPicPr>
          <p:cNvPr id="31" name="Picture 30" descr="model_actual_vs_predicted.png"/>
          <p:cNvPicPr>
            <a:picLocks noChangeAspect="1"/>
          </p:cNvPicPr>
          <p:nvPr/>
        </p:nvPicPr>
        <p:blipFill>
          <a:blip r:embed="rId3"/>
          <a:stretch>
            <a:fillRect/>
          </a:stretch>
        </p:blipFill>
        <p:spPr>
          <a:xfrm>
            <a:off x="731520" y="1645920"/>
            <a:ext cx="5486400" cy="3931920"/>
          </a:xfrm>
          <a:prstGeom prst="rect">
            <a:avLst/>
          </a:prstGeom>
        </p:spPr>
      </p:pic>
      <p:sp>
        <p:nvSpPr>
          <p:cNvPr id="32" name="TextBox 31"/>
          <p:cNvSpPr txBox="1"/>
          <p:nvPr/>
        </p:nvSpPr>
        <p:spPr>
          <a:xfrm>
            <a:off x="6492240" y="1645920"/>
            <a:ext cx="5303520" cy="3931920"/>
          </a:xfrm>
          <a:prstGeom prst="rect">
            <a:avLst/>
          </a:prstGeom>
          <a:noFill/>
        </p:spPr>
        <p:txBody>
          <a:bodyPr wrap="square">
            <a:spAutoFit/>
          </a:bodyPr>
          <a:lstStyle/>
          <a:p>
            <a:pPr>
              <a:spcAft>
                <a:spcPts val="1000"/>
              </a:spcAft>
            </a:pPr>
            <a:r>
              <a:rPr b="1" sz="1300">
                <a:solidFill>
                  <a:srgbClr val="102C57"/>
                </a:solidFill>
              </a:rPr>
              <a:t>• Algorithm Benchmarking: </a:t>
            </a:r>
            <a:r>
              <a:rPr b="0" sz="1200">
                <a:solidFill>
                  <a:srgbClr val="282828"/>
                </a:solidFill>
              </a:rPr>
              <a:t>Compared Linear Regression, Ridge, Random Forest, Gradient Boosting, and XGBoost using 5-Fold Cross-Validation.</a:t>
            </a:r>
          </a:p>
          <a:p>
            <a:pPr>
              <a:spcAft>
                <a:spcPts val="1000"/>
              </a:spcAft>
            </a:pPr>
            <a:r>
              <a:rPr b="1" sz="1300">
                <a:solidFill>
                  <a:srgbClr val="102C57"/>
                </a:solidFill>
              </a:rPr>
              <a:t>• Top Performer: </a:t>
            </a:r>
            <a:r>
              <a:rPr b="0" sz="1200">
                <a:solidFill>
                  <a:srgbClr val="282828"/>
                </a:solidFill>
              </a:rPr>
              <a:t>Gradient Boosting achieved an extraordinary R² of 0.9900, MAE of 0.4636 Tonnes/Ha, and RMSE of 1.3899 Tonnes/Ha.</a:t>
            </a:r>
          </a:p>
          <a:p>
            <a:pPr>
              <a:spcAft>
                <a:spcPts val="1000"/>
              </a:spcAft>
            </a:pPr>
            <a:r>
              <a:rPr b="1" sz="1300">
                <a:solidFill>
                  <a:srgbClr val="102C57"/>
                </a:solidFill>
              </a:rPr>
              <a:t>• Validation Quality: </a:t>
            </a:r>
            <a:r>
              <a:rPr b="0" sz="1200">
                <a:solidFill>
                  <a:srgbClr val="282828"/>
                </a:solidFill>
              </a:rPr>
              <a:t>Actual vs. Predicted scatter plot demonstrates tight alignment along the 1:1 diagonal across all yield distributions.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pPr>
              <a:defRPr sz="2000" b="1">
                <a:solidFill>
                  <a:srgbClr val="102C57"/>
                </a:solidFill>
              </a:defRPr>
            </a:pPr>
            <a:r>
              <a:t>RESULTS: Feature Drivers &amp; Farm Profitability Model</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p:txBody>
      </p:sp>
      <p:pic>
        <p:nvPicPr>
          <p:cNvPr id="31" name="Picture 30" descr="feature_importance_yield.png"/>
          <p:cNvPicPr>
            <a:picLocks noChangeAspect="1"/>
          </p:cNvPicPr>
          <p:nvPr/>
        </p:nvPicPr>
        <p:blipFill>
          <a:blip r:embed="rId3"/>
          <a:stretch>
            <a:fillRect/>
          </a:stretch>
        </p:blipFill>
        <p:spPr>
          <a:xfrm>
            <a:off x="731520" y="1645920"/>
            <a:ext cx="5486400" cy="3931920"/>
          </a:xfrm>
          <a:prstGeom prst="rect">
            <a:avLst/>
          </a:prstGeom>
        </p:spPr>
      </p:pic>
      <p:sp>
        <p:nvSpPr>
          <p:cNvPr id="32" name="TextBox 31"/>
          <p:cNvSpPr txBox="1"/>
          <p:nvPr/>
        </p:nvSpPr>
        <p:spPr>
          <a:xfrm>
            <a:off x="6492240" y="1645920"/>
            <a:ext cx="5303520" cy="3931920"/>
          </a:xfrm>
          <a:prstGeom prst="rect">
            <a:avLst/>
          </a:prstGeom>
          <a:noFill/>
        </p:spPr>
        <p:txBody>
          <a:bodyPr wrap="square">
            <a:spAutoFit/>
          </a:bodyPr>
          <a:lstStyle/>
          <a:p>
            <a:pPr>
              <a:spcAft>
                <a:spcPts val="1000"/>
              </a:spcAft>
            </a:pPr>
            <a:r>
              <a:rPr b="1" sz="1300">
                <a:solidFill>
                  <a:srgbClr val="102C57"/>
                </a:solidFill>
              </a:rPr>
              <a:t>• Primary Yield Drivers: </a:t>
            </a:r>
            <a:r>
              <a:rPr b="0" sz="1200">
                <a:solidFill>
                  <a:srgbClr val="282828"/>
                </a:solidFill>
              </a:rPr>
              <a:t>Crop variety, Seed Quality Score, and balanced N-P-K soil fertilization emerged as the most critical determinants of yield.</a:t>
            </a:r>
          </a:p>
          <a:p>
            <a:pPr>
              <a:spcAft>
                <a:spcPts val="1000"/>
              </a:spcAft>
            </a:pPr>
            <a:r>
              <a:rPr b="1" sz="1300">
                <a:solidFill>
                  <a:srgbClr val="102C57"/>
                </a:solidFill>
              </a:rPr>
              <a:t>• Profitability Classifier: </a:t>
            </a:r>
            <a:r>
              <a:rPr b="0" sz="1200">
                <a:solidFill>
                  <a:srgbClr val="282828"/>
                </a:solidFill>
              </a:rPr>
              <a:t>XGBoost Classifier predicted farm profitability with 92.25% Accuracy, 0.9242 F1-Score, and 0.9808 ROC-AUC.</a:t>
            </a:r>
          </a:p>
          <a:p>
            <a:pPr>
              <a:spcAft>
                <a:spcPts val="1000"/>
              </a:spcAft>
            </a:pPr>
            <a:r>
              <a:rPr b="1" sz="1300">
                <a:solidFill>
                  <a:srgbClr val="102C57"/>
                </a:solidFill>
              </a:rPr>
              <a:t>• Practical Impact: </a:t>
            </a:r>
            <a:r>
              <a:rPr b="0" sz="1200">
                <a:solidFill>
                  <a:srgbClr val="282828"/>
                </a:solidFill>
              </a:rPr>
              <a:t>Enables pre-season financial feasibility assessments before farmers invest capital in seeds and fertilizers.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pPr>
              <a:defRPr sz="2000" b="1">
                <a:solidFill>
                  <a:srgbClr val="102C57"/>
                </a:solidFill>
              </a:defRPr>
            </a:pPr>
            <a:r>
              <a:t>RESULTS: Irrigation Technology &amp; Water Efficiency</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p:txBody>
      </p:sp>
      <p:pic>
        <p:nvPicPr>
          <p:cNvPr id="31" name="Picture 30" descr="irrigation_water_efficiency.png"/>
          <p:cNvPicPr>
            <a:picLocks noChangeAspect="1"/>
          </p:cNvPicPr>
          <p:nvPr/>
        </p:nvPicPr>
        <p:blipFill>
          <a:blip r:embed="rId3"/>
          <a:stretch>
            <a:fillRect/>
          </a:stretch>
        </p:blipFill>
        <p:spPr>
          <a:xfrm>
            <a:off x="731520" y="1645920"/>
            <a:ext cx="5486400" cy="3931920"/>
          </a:xfrm>
          <a:prstGeom prst="rect">
            <a:avLst/>
          </a:prstGeom>
        </p:spPr>
      </p:pic>
      <p:sp>
        <p:nvSpPr>
          <p:cNvPr id="32" name="TextBox 31"/>
          <p:cNvSpPr txBox="1"/>
          <p:nvPr/>
        </p:nvSpPr>
        <p:spPr>
          <a:xfrm>
            <a:off x="6492240" y="1645920"/>
            <a:ext cx="5303520" cy="3931920"/>
          </a:xfrm>
          <a:prstGeom prst="rect">
            <a:avLst/>
          </a:prstGeom>
          <a:noFill/>
        </p:spPr>
        <p:txBody>
          <a:bodyPr wrap="square">
            <a:spAutoFit/>
          </a:bodyPr>
          <a:lstStyle/>
          <a:p>
            <a:pPr>
              <a:spcAft>
                <a:spcPts val="1000"/>
              </a:spcAft>
            </a:pPr>
            <a:r>
              <a:rPr b="1" sz="1300">
                <a:solidFill>
                  <a:srgbClr val="102C57"/>
                </a:solidFill>
              </a:rPr>
              <a:t>• Drip Irrigation Superiority: </a:t>
            </a:r>
            <a:r>
              <a:rPr b="0" sz="1200">
                <a:solidFill>
                  <a:srgbClr val="282828"/>
                </a:solidFill>
              </a:rPr>
              <a:t>Drip irrigation generated significantly higher water productivity (Tonnes/1000m³) across all 3 agricultural seasons.</a:t>
            </a:r>
          </a:p>
          <a:p>
            <a:pPr>
              <a:spcAft>
                <a:spcPts val="1000"/>
              </a:spcAft>
            </a:pPr>
            <a:r>
              <a:rPr b="1" sz="1300">
                <a:solidFill>
                  <a:srgbClr val="102C57"/>
                </a:solidFill>
              </a:rPr>
              <a:t>• Flood Irrigation Waste: </a:t>
            </a:r>
            <a:r>
              <a:rPr b="0" sz="1200">
                <a:solidFill>
                  <a:srgbClr val="282828"/>
                </a:solidFill>
              </a:rPr>
              <a:t>Traditional flood irrigation consumed the highest water volumes with the lowest marginal yield return.</a:t>
            </a:r>
          </a:p>
          <a:p>
            <a:pPr>
              <a:spcAft>
                <a:spcPts val="1000"/>
              </a:spcAft>
            </a:pPr>
            <a:r>
              <a:rPr b="1" sz="1300">
                <a:solidFill>
                  <a:srgbClr val="102C57"/>
                </a:solidFill>
              </a:rPr>
              <a:t>• Correlation Findings: </a:t>
            </a:r>
            <a:r>
              <a:rPr b="0" sz="1200">
                <a:solidFill>
                  <a:srgbClr val="282828"/>
                </a:solidFill>
              </a:rPr>
              <a:t>Strong positive correlation observed between water efficiency, optimized fertilizer usage, and net farm revenue.</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pPr>
              <a:defRPr sz="2000" b="1">
                <a:solidFill>
                  <a:srgbClr val="102C57"/>
                </a:solidFill>
              </a:defRPr>
            </a:pPr>
            <a:r>
              <a:t>RESULTS: Crop Economic Breakdown &amp; ANOVA Results</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p:txBody>
      </p:sp>
      <p:pic>
        <p:nvPicPr>
          <p:cNvPr id="31" name="Picture 30" descr="crop_profit_comparison.png"/>
          <p:cNvPicPr>
            <a:picLocks noChangeAspect="1"/>
          </p:cNvPicPr>
          <p:nvPr/>
        </p:nvPicPr>
        <p:blipFill>
          <a:blip r:embed="rId3"/>
          <a:stretch>
            <a:fillRect/>
          </a:stretch>
        </p:blipFill>
        <p:spPr>
          <a:xfrm>
            <a:off x="731520" y="1645920"/>
            <a:ext cx="5486400" cy="3931920"/>
          </a:xfrm>
          <a:prstGeom prst="rect">
            <a:avLst/>
          </a:prstGeom>
        </p:spPr>
      </p:pic>
      <p:sp>
        <p:nvSpPr>
          <p:cNvPr id="32" name="TextBox 31"/>
          <p:cNvSpPr txBox="1"/>
          <p:nvPr/>
        </p:nvSpPr>
        <p:spPr>
          <a:xfrm>
            <a:off x="6492240" y="1645920"/>
            <a:ext cx="5303520" cy="3931920"/>
          </a:xfrm>
          <a:prstGeom prst="rect">
            <a:avLst/>
          </a:prstGeom>
          <a:noFill/>
        </p:spPr>
        <p:txBody>
          <a:bodyPr wrap="square">
            <a:spAutoFit/>
          </a:bodyPr>
          <a:lstStyle/>
          <a:p>
            <a:pPr>
              <a:spcAft>
                <a:spcPts val="1000"/>
              </a:spcAft>
            </a:pPr>
            <a:r>
              <a:rPr b="1" sz="1300">
                <a:solidFill>
                  <a:srgbClr val="102C57"/>
                </a:solidFill>
              </a:rPr>
              <a:t>• Economic Leaders: </a:t>
            </a:r>
            <a:r>
              <a:rPr b="0" sz="1200">
                <a:solidFill>
                  <a:srgbClr val="282828"/>
                </a:solidFill>
              </a:rPr>
              <a:t>Commercial cash crops (Sugarcane, Chilli, Cotton) achieved the highest net profits per hectare.</a:t>
            </a:r>
          </a:p>
          <a:p>
            <a:pPr>
              <a:spcAft>
                <a:spcPts val="1000"/>
              </a:spcAft>
            </a:pPr>
            <a:r>
              <a:rPr b="1" sz="1300">
                <a:solidFill>
                  <a:srgbClr val="102C57"/>
                </a:solidFill>
              </a:rPr>
              <a:t>• Pulse &amp; Grain Value: </a:t>
            </a:r>
            <a:r>
              <a:rPr b="0" sz="1200">
                <a:solidFill>
                  <a:srgbClr val="282828"/>
                </a:solidFill>
              </a:rPr>
              <a:t>Pulses and Wheat provided critical soil nitrogen replenishment and steady seasonal cash flow.</a:t>
            </a:r>
          </a:p>
          <a:p>
            <a:pPr>
              <a:spcAft>
                <a:spcPts val="1000"/>
              </a:spcAft>
            </a:pPr>
            <a:r>
              <a:rPr b="1" sz="1300">
                <a:solidFill>
                  <a:srgbClr val="102C57"/>
                </a:solidFill>
              </a:rPr>
              <a:t>• Hypothesis Testing: </a:t>
            </a:r>
            <a:r>
              <a:rPr b="0" sz="1200">
                <a:solidFill>
                  <a:srgbClr val="282828"/>
                </a:solidFill>
              </a:rPr>
              <a:t>One-Way ANOVA confirmed statistically significant differences (p &lt; 0.001) across seasons for Yield, Rainfall, and Net Profit.</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731520" y="1645920"/>
            <a:ext cx="10515600" cy="4114800"/>
          </a:xfrm>
          <a:prstGeom prst="rect">
            <a:avLst/>
          </a:prstGeom>
          <a:noFill/>
        </p:spPr>
        <p:txBody>
          <a:bodyPr wrap="square">
            <a:spAutoFit/>
          </a:bodyPr>
          <a:lstStyle/>
          <a:p>
            <a:pPr>
              <a:spcAft>
                <a:spcPts val="1400"/>
              </a:spcAft>
            </a:pPr>
            <a:r>
              <a:rPr b="1" sz="1400">
                <a:solidFill>
                  <a:srgbClr val="102C57"/>
                </a:solidFill>
              </a:rPr>
              <a:t>1. Real-Time IoT &amp; Smart Sensor Integration: </a:t>
            </a:r>
            <a:r>
              <a:rPr b="0" sz="1300">
                <a:solidFill>
                  <a:srgbClr val="282828"/>
                </a:solidFill>
              </a:rPr>
              <a:t>Integrate on-farm IoT sensors for continuous telemetry streaming of real-time soil moisture, temperature, and electrical conductivity to automate drip irrigation valves.</a:t>
            </a:r>
          </a:p>
          <a:p>
            <a:pPr>
              <a:spcAft>
                <a:spcPts val="1400"/>
              </a:spcAft>
            </a:pPr>
            <a:r>
              <a:rPr b="1" sz="1400">
                <a:solidFill>
                  <a:srgbClr val="102C57"/>
                </a:solidFill>
              </a:rPr>
              <a:t>2. Satellite Remote Sensing &amp; Computer Vision: </a:t>
            </a:r>
            <a:r>
              <a:rPr b="0" sz="1300">
                <a:solidFill>
                  <a:srgbClr val="282828"/>
                </a:solidFill>
              </a:rPr>
              <a:t>Leverage high-resolution Sentinel/Landsat multispectral imagery (NDVI, NDWI) and drone surveys to spot localized crop stress, nutrient deficiencies, and pest infestations.</a:t>
            </a:r>
          </a:p>
          <a:p>
            <a:pPr>
              <a:spcAft>
                <a:spcPts val="1400"/>
              </a:spcAft>
            </a:pPr>
            <a:r>
              <a:rPr b="1" sz="1400">
                <a:solidFill>
                  <a:srgbClr val="102C57"/>
                </a:solidFill>
              </a:rPr>
              <a:t>3. Deep Learning &amp; Transformer-based Weather Forecasting: </a:t>
            </a:r>
            <a:r>
              <a:rPr b="0" sz="1300">
                <a:solidFill>
                  <a:srgbClr val="282828"/>
                </a:solidFill>
              </a:rPr>
              <a:t>Incorporate regional numerical weather prediction and transformer models to predict monsoon onset anomalies, unseasonal rains, and heatwaves.</a:t>
            </a:r>
          </a:p>
          <a:p>
            <a:pPr>
              <a:spcAft>
                <a:spcPts val="1400"/>
              </a:spcAft>
            </a:pPr>
            <a:r>
              <a:rPr b="1" sz="1400">
                <a:solidFill>
                  <a:srgbClr val="102C57"/>
                </a:solidFill>
              </a:rPr>
              <a:t>4. Mobile Decision Support Platform: </a:t>
            </a:r>
            <a:r>
              <a:rPr b="0" sz="1300">
                <a:solidFill>
                  <a:srgbClr val="282828"/>
                </a:solidFill>
              </a:rPr>
              <a:t>Deploy lightweight quantized XGBoost models into a multilingual mobile app offering personalized, voice-assisted advisories for rural farmers without continuous internet access.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pPr>
              <a:defRPr sz="1800" b="1">
                <a:solidFill>
                  <a:srgbClr val="102C57"/>
                </a:solidFill>
              </a:defRPr>
            </a:pPr>
            <a:r>
              <a:t>https://github.com/ksmashhero06/-Seasonal-Agriculture-Performance-Analysis-.git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